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</p:sldIdLst>
  <p:sldSz cy="5143500" cx="9144000"/>
  <p:notesSz cx="6858000" cy="9144000"/>
  <p:embeddedFontLst>
    <p:embeddedFont>
      <p:font typeface="Roboto Mono"/>
      <p:regular r:id="rId60"/>
      <p:bold r:id="rId61"/>
      <p:italic r:id="rId62"/>
      <p:boldItalic r:id="rId6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DC74C7-A51D-424A-8400-F6C460B2B271}">
  <a:tblStyle styleId="{B8DC74C7-A51D-424A-8400-F6C460B2B2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B85B8101-B33C-41C8-9E00-77A507C5AA1F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font" Target="fonts/RobotoMono-italic.fntdata"/><Relationship Id="rId61" Type="http://schemas.openxmlformats.org/officeDocument/2006/relationships/font" Target="fonts/RobotoMono-bold.fntdata"/><Relationship Id="rId20" Type="http://schemas.openxmlformats.org/officeDocument/2006/relationships/slide" Target="slides/slide14.xml"/><Relationship Id="rId63" Type="http://schemas.openxmlformats.org/officeDocument/2006/relationships/font" Target="fonts/RobotoMono-boldItalic.fntdata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60" Type="http://schemas.openxmlformats.org/officeDocument/2006/relationships/font" Target="fonts/RobotoMono-regular.fntdata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b="1" lang="en">
                <a:solidFill>
                  <a:srgbClr val="1F1F1F"/>
                </a:solidFill>
              </a:rPr>
              <a:t>Visual Idea:</a:t>
            </a:r>
            <a:r>
              <a:rPr lang="en">
                <a:solidFill>
                  <a:srgbClr val="1F1F1F"/>
                </a:solidFill>
              </a:rPr>
              <a:t> A split screen. On the left, a dusty PDF manual. On the right, a sleek mobile phone running ODK. In the middle, a shield icon representing "Verificati</a:t>
            </a:r>
            <a:endParaRPr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6d68c70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6d68c70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b="1" lang="en">
                <a:solidFill>
                  <a:srgbClr val="1F1F1F"/>
                </a:solidFill>
              </a:rPr>
              <a:t>Visual Idea:</a:t>
            </a:r>
            <a:r>
              <a:rPr lang="en">
                <a:solidFill>
                  <a:srgbClr val="1F1F1F"/>
                </a:solidFill>
              </a:rPr>
              <a:t> A flowchart showing "PDF $\rightarrow$ Human Dev $\rightarrow$ Code" with red warning icons at the "Human Dev" stage labeled "Subjective Interpretation."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6d68c70f0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6d68c70f0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b="1" lang="en">
                <a:solidFill>
                  <a:srgbClr val="1F1F1F"/>
                </a:solidFill>
              </a:rPr>
              <a:t>Visual Idea:</a:t>
            </a:r>
            <a:r>
              <a:rPr lang="en">
                <a:solidFill>
                  <a:srgbClr val="1F1F1F"/>
                </a:solidFill>
              </a:rPr>
              <a:t> A layer-cake diagram showing the 6 layers stacked up, supporting a "Deployment Ready" flag at the top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8180457c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8180457c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b="1" lang="en">
                <a:solidFill>
                  <a:srgbClr val="1F1F1F"/>
                </a:solidFill>
              </a:rPr>
              <a:t>Visual Idea:</a:t>
            </a:r>
            <a:r>
              <a:rPr lang="en">
                <a:solidFill>
                  <a:srgbClr val="1F1F1F"/>
                </a:solidFill>
              </a:rPr>
              <a:t> A layer-cake diagram showing the 6 layers stacked up, supporting a "Deployment Ready" flag at the top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8180457cf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8180457c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6d68c70f0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6d68c70f0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 Idea: Two parallel arrows (Pipeline A &amp; Pipeline B) converging at a "Consensus Check," with a "Red Team" bot attacking both arrows.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5718d6412e049397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5718d6412e049397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5718d6412e049397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5718d6412e049397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401aca675d4d5ebb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401aca675d4d5ebb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5e2ec44c67f0056d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5e2ec44c67f0056d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d8180457cf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d8180457cf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d8180457cf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d8180457cf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bee8004f3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bee8004f3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bee8004f3b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bee8004f3b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 by Gemini reading Mermaid.  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bee8004f3b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bee8004f3b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5347dc44d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5347dc44d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d67ec58c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d67ec58c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d6390380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d6390380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b21a599e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cb21a599e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ec32d5c1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cec32d5c1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cec32d5c1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cec32d5c1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ec32d5c1f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cec32d5c1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cec32d5c1f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cec32d5c1f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cb3614d7d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cb3614d7d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d5347dc44d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d5347dc44d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c4c90149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c4c90149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b3614d7d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b3614d7d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128ac0124ce5eb74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128ac0124ce5eb74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b21a599ea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cb21a599e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bee8004f3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bee8004f3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Mermaid created by Germini.  It drew the following diagram. XX note highlighted lines are "modern" Mermaid.  The online tools worked best with those lines deleted.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d8180457cf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3d8180457cf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d8180457cf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d8180457c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d8180457cf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d8180457cf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b="1" lang="en">
                <a:solidFill>
                  <a:srgbClr val="1F1F1F"/>
                </a:solidFill>
              </a:rPr>
              <a:t>Visual Idea:</a:t>
            </a:r>
            <a:r>
              <a:rPr lang="en">
                <a:solidFill>
                  <a:srgbClr val="1F1F1F"/>
                </a:solidFill>
              </a:rPr>
              <a:t> A layer-cake diagram showing the 6 layers stacked up, supporting a "Deployment Ready" flag at the top</a:t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d8180457cf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d8180457cf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128ac0124ce5eb74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128ac0124ce5eb74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d8180457cf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d8180457cf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c6d68c70f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c6d68c70f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b="1" lang="en" sz="1800">
                <a:solidFill>
                  <a:srgbClr val="1F1F1F"/>
                </a:solidFill>
              </a:rPr>
              <a:t>Visual Idea:</a:t>
            </a:r>
            <a:r>
              <a:rPr lang="en" sz="1800">
                <a:solidFill>
                  <a:srgbClr val="1F1F1F"/>
                </a:solidFill>
              </a:rPr>
              <a:t> A roadmap graphic with "Stop Signs" at key intervals labeled "MOH Sign-off," leading to a final green light.</a:t>
            </a:r>
            <a:endParaRPr sz="1800">
              <a:solidFill>
                <a:srgbClr val="595959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64beb5b470b06fc5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64beb5b470b06fc5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28ac0124ce5eb7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28ac0124ce5eb7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8b489eb1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8b489eb1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5718d6412e049397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5718d6412e049397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64beb5b470b06fc5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64beb5b470b06fc5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d8180457cf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d8180457cf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5e2ec44c67f0056d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5e2ec44c67f0056d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d8180457cf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d8180457cf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401aca675d4d5ebb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401aca675d4d5ebb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00"/>
              <a:buChar char="●"/>
            </a:pPr>
            <a:r>
              <a:rPr b="1" lang="en" sz="1500">
                <a:solidFill>
                  <a:srgbClr val="1F1F1F"/>
                </a:solidFill>
              </a:rPr>
              <a:t>Visual Idea:</a:t>
            </a:r>
            <a:r>
              <a:rPr lang="en" sz="1500">
                <a:solidFill>
                  <a:srgbClr val="1F1F1F"/>
                </a:solidFill>
              </a:rPr>
              <a:t> A "Diff" comparison chart. "Reference Model Output" on the left, "Mobile App Output" on the right. A big green checkmark in the middle showing "100% Match."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64beb5b470b06fc5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4" name="Google Shape;334;g64beb5b470b06fc5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3d8180457cf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3d8180457cf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d8180457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d8180457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6d68c70f0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c6d68c70f0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d8180457c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d8180457c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d8180457cf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d8180457cf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6d68c70f0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c6d68c70f0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b="1" lang="en" sz="1800">
                <a:solidFill>
                  <a:srgbClr val="1F1F1F"/>
                </a:solidFill>
              </a:rPr>
              <a:t>Visual Idea:</a:t>
            </a:r>
            <a:r>
              <a:rPr lang="en" sz="1800">
                <a:solidFill>
                  <a:srgbClr val="1F1F1F"/>
                </a:solidFill>
              </a:rPr>
              <a:t> A simple "Before vs. After" comparison table summarizing the points above.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  <a:defRPr sz="1200"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  <a:defRPr sz="1200"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■"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Verification-First Clinical Engineering</a:t>
            </a:r>
            <a:endParaRPr sz="4800"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1800"/>
              </a:spcAft>
              <a:buNone/>
            </a:pPr>
            <a:r>
              <a:rPr lang="en"/>
              <a:t>A Zero-Trust Pipeline for Deployment-Ready MOH Guidelines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digitization is a manual, error-prone translation task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146900" y="14300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b="1" lang="en">
                <a:solidFill>
                  <a:srgbClr val="1F1F1F"/>
                </a:solidFill>
              </a:rPr>
              <a:t>The Status Quo:</a:t>
            </a:r>
            <a:r>
              <a:rPr lang="en">
                <a:solidFill>
                  <a:srgbClr val="1F1F1F"/>
                </a:solidFill>
              </a:rPr>
              <a:t> Developers interview MDs or interpret Ministry of Health (MOH) PDFs to write code (CHT, ODK, OpenSRP).</a:t>
            </a:r>
            <a:endParaRPr>
              <a:solidFill>
                <a:srgbClr val="1F1F1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b="1" lang="en">
                <a:solidFill>
                  <a:srgbClr val="1F1F1F"/>
                </a:solidFill>
              </a:rPr>
              <a:t>The Risk:</a:t>
            </a:r>
            <a:r>
              <a:rPr lang="en">
                <a:solidFill>
                  <a:srgbClr val="1F1F1F"/>
                </a:solidFill>
              </a:rPr>
              <a:t> "Trust-based" transcription introduces silent errors:</a:t>
            </a:r>
            <a:endParaRPr>
              <a:solidFill>
                <a:srgbClr val="1F1F1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" sz="1800">
                <a:solidFill>
                  <a:srgbClr val="1F1F1F"/>
                </a:solidFill>
              </a:rPr>
              <a:t>Missed exclusion criteria (e.g., age cutoffs).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" sz="1800">
                <a:solidFill>
                  <a:srgbClr val="1F1F1F"/>
                </a:solidFill>
              </a:rPr>
              <a:t>Unsafe defaults (e.g., treating missing temperature as "normal").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lang="en" sz="1800">
                <a:solidFill>
                  <a:srgbClr val="1F1F1F"/>
                </a:solidFill>
              </a:rPr>
              <a:t>Logic gaps (e.g., stockout scenarios ignored).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b="1" lang="en">
                <a:solidFill>
                  <a:srgbClr val="1F1F1F"/>
                </a:solidFill>
              </a:rPr>
              <a:t>Code takes years to write! </a:t>
            </a:r>
            <a:r>
              <a:rPr lang="en">
                <a:solidFill>
                  <a:srgbClr val="1F1F1F"/>
                </a:solidFill>
              </a:rPr>
              <a:t> So few CHWs have clinical support on their phones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Solution: Zero-Trust Engineering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</a:rPr>
              <a:t>Core Philosophy: "Zero-Trust."  </a:t>
            </a:r>
            <a:r>
              <a:rPr b="1" lang="en">
                <a:solidFill>
                  <a:srgbClr val="1F1F1F"/>
                </a:solidFill>
              </a:rPr>
              <a:t>We assume every artifact is flawed until proven otherwise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1F1F"/>
                </a:solidFill>
              </a:rPr>
              <a:t>The Verification Stack:</a:t>
            </a:r>
            <a:endParaRPr b="1" sz="1600">
              <a:solidFill>
                <a:srgbClr val="1F1F1F"/>
              </a:solidFill>
            </a:endParaRPr>
          </a:p>
          <a:p>
            <a:pPr indent="-330200" lvl="0" marL="457200" rtl="0" algn="l"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" sz="1600">
                <a:solidFill>
                  <a:srgbClr val="1F1F1F"/>
                </a:solidFill>
              </a:rPr>
              <a:t>Adversarial Extraction:</a:t>
            </a:r>
            <a:r>
              <a:rPr lang="en" sz="1600">
                <a:solidFill>
                  <a:srgbClr val="1F1F1F"/>
                </a:solidFill>
              </a:rPr>
              <a:t> "Red Teams" hunting for logic gaps at each step of creating the clinical logic and code</a:t>
            </a:r>
            <a:endParaRPr sz="1600">
              <a:solidFill>
                <a:srgbClr val="1F1F1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" sz="1600">
                <a:solidFill>
                  <a:srgbClr val="1F1F1F"/>
                </a:solidFill>
              </a:rPr>
              <a:t>Formal Verification:</a:t>
            </a:r>
            <a:r>
              <a:rPr lang="en" sz="1600">
                <a:solidFill>
                  <a:srgbClr val="1F1F1F"/>
                </a:solidFill>
              </a:rPr>
              <a:t> Mathematical proofs of desirable properties: no infinite loops, decision trees have graceful endpoints, etc. </a:t>
            </a:r>
            <a:endParaRPr sz="1600">
              <a:solidFill>
                <a:srgbClr val="1F1F1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" sz="1600">
                <a:solidFill>
                  <a:srgbClr val="1F1F1F"/>
                </a:solidFill>
              </a:rPr>
              <a:t>Human Sovereignty:</a:t>
            </a:r>
            <a:r>
              <a:rPr lang="en" sz="1600">
                <a:solidFill>
                  <a:srgbClr val="1F1F1F"/>
                </a:solidFill>
              </a:rPr>
              <a:t> Mandatory sign-offs of clinical logic &amp; of translations</a:t>
            </a:r>
            <a:endParaRPr sz="1600">
              <a:solidFill>
                <a:srgbClr val="1F1F1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" sz="1600">
                <a:solidFill>
                  <a:srgbClr val="1F1F1F"/>
                </a:solidFill>
              </a:rPr>
              <a:t>Traceability:</a:t>
            </a:r>
            <a:r>
              <a:rPr lang="en" sz="1600">
                <a:solidFill>
                  <a:srgbClr val="1F1F1F"/>
                </a:solidFill>
              </a:rPr>
              <a:t> Cryptographic links to source text</a:t>
            </a:r>
            <a:endParaRPr sz="1600">
              <a:solidFill>
                <a:srgbClr val="1F1F1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" sz="1600">
                <a:solidFill>
                  <a:srgbClr val="1F1F1F"/>
                </a:solidFill>
              </a:rPr>
              <a:t>Differential Testing:</a:t>
            </a:r>
            <a:r>
              <a:rPr lang="en" sz="1600">
                <a:solidFill>
                  <a:srgbClr val="1F1F1F"/>
                </a:solidFill>
              </a:rPr>
              <a:t> Synthetic patient simulations show approved clinical logic operates the same as the final code</a:t>
            </a:r>
            <a:endParaRPr sz="16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Solution: Zero-Trust Engineering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rgbClr val="1F1F1F"/>
                </a:solidFill>
              </a:rPr>
              <a:t>Core Philosophy: "Zero-Trust."  We assume every artifact is flawed until proven otherwise</a:t>
            </a:r>
            <a:endParaRPr b="1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1F1F1F"/>
                </a:solidFill>
              </a:rPr>
              <a:t>The Verification Stack:</a:t>
            </a:r>
            <a:endParaRPr b="1" sz="1600">
              <a:solidFill>
                <a:srgbClr val="1F1F1F"/>
              </a:solidFill>
            </a:endParaRPr>
          </a:p>
          <a:p>
            <a:pPr indent="-330200" lvl="0" marL="457200" rtl="0" algn="l"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" sz="1600">
                <a:solidFill>
                  <a:srgbClr val="1F1F1F"/>
                </a:solidFill>
              </a:rPr>
              <a:t>Adversarial Extraction:</a:t>
            </a:r>
            <a:r>
              <a:rPr lang="en" sz="1600">
                <a:solidFill>
                  <a:srgbClr val="1F1F1F"/>
                </a:solidFill>
              </a:rPr>
              <a:t> "Red Teams" hunting for logic gaps at each step of creating the clinical logic and code</a:t>
            </a:r>
            <a:endParaRPr sz="1600">
              <a:solidFill>
                <a:srgbClr val="1F1F1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" sz="1600">
                <a:solidFill>
                  <a:srgbClr val="1F1F1F"/>
                </a:solidFill>
              </a:rPr>
              <a:t>Formal Verification:</a:t>
            </a:r>
            <a:r>
              <a:rPr lang="en" sz="1600">
                <a:solidFill>
                  <a:srgbClr val="1F1F1F"/>
                </a:solidFill>
              </a:rPr>
              <a:t> Mathematical proofs of desirable properties: no infinite loops, decision trees have graceful endpoints, etc. </a:t>
            </a:r>
            <a:endParaRPr sz="1600">
              <a:solidFill>
                <a:srgbClr val="1F1F1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" sz="1600">
                <a:solidFill>
                  <a:srgbClr val="1F1F1F"/>
                </a:solidFill>
                <a:highlight>
                  <a:schemeClr val="accent6"/>
                </a:highlight>
              </a:rPr>
              <a:t>Human Sovereignty:</a:t>
            </a:r>
            <a:r>
              <a:rPr lang="en" sz="1600">
                <a:solidFill>
                  <a:srgbClr val="1F1F1F"/>
                </a:solidFill>
                <a:highlight>
                  <a:schemeClr val="accent6"/>
                </a:highlight>
              </a:rPr>
              <a:t> Mandatory sign-offs of clinical logic &amp; of translations</a:t>
            </a:r>
            <a:endParaRPr sz="1600">
              <a:solidFill>
                <a:srgbClr val="1F1F1F"/>
              </a:solidFill>
              <a:highlight>
                <a:schemeClr val="accent6"/>
              </a:highlight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" sz="1600">
                <a:solidFill>
                  <a:srgbClr val="1F1F1F"/>
                </a:solidFill>
              </a:rPr>
              <a:t>Traceability:</a:t>
            </a:r>
            <a:r>
              <a:rPr lang="en" sz="1600">
                <a:solidFill>
                  <a:srgbClr val="1F1F1F"/>
                </a:solidFill>
              </a:rPr>
              <a:t> Cryptographic links to source text</a:t>
            </a:r>
            <a:endParaRPr sz="1600">
              <a:solidFill>
                <a:srgbClr val="1F1F1F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b="1" lang="en" sz="1600">
                <a:solidFill>
                  <a:srgbClr val="1F1F1F"/>
                </a:solidFill>
              </a:rPr>
              <a:t>Differential Testing:</a:t>
            </a:r>
            <a:r>
              <a:rPr lang="en" sz="1600">
                <a:solidFill>
                  <a:srgbClr val="1F1F1F"/>
                </a:solidFill>
              </a:rPr>
              <a:t> Synthetic patient simulations show approved clinical logic operates the same as the final code</a:t>
            </a:r>
            <a:endParaRPr sz="16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Validating our approach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Char char="●"/>
            </a:pPr>
            <a:r>
              <a:rPr lang="en" sz="1600">
                <a:solidFill>
                  <a:srgbClr val="1F1F1F"/>
                </a:solidFill>
              </a:rPr>
              <a:t>Evidence </a:t>
            </a:r>
            <a:endParaRPr sz="1600">
              <a:solidFill>
                <a:srgbClr val="1F1F1F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600"/>
              <a:buAutoNum type="arabicPeriod"/>
            </a:pPr>
            <a:r>
              <a:rPr b="1" lang="en" sz="1600">
                <a:solidFill>
                  <a:srgbClr val="1F1F1F"/>
                </a:solidFill>
              </a:rPr>
              <a:t>Independent Oracles:</a:t>
            </a:r>
            <a:r>
              <a:rPr lang="en" sz="1600">
                <a:solidFill>
                  <a:srgbClr val="1F1F1F"/>
                </a:solidFill>
              </a:rPr>
              <a:t> Validation against external ground truths.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30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Adversarial Logic Extraction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5500">
                <a:solidFill>
                  <a:srgbClr val="1F1F1F"/>
                </a:solidFill>
              </a:rPr>
              <a:t>Replacing "Single-Pass Coding" with "Red Teaming"</a:t>
            </a:r>
            <a:endParaRPr b="1" sz="5500">
              <a:solidFill>
                <a:srgbClr val="1F1F1F"/>
              </a:solidFill>
            </a:endParaRPr>
          </a:p>
          <a:p>
            <a:pPr indent="-347901" lvl="0" marL="457200" rtl="0" algn="l"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ct val="100000"/>
              <a:buChar char="●"/>
            </a:pPr>
            <a:r>
              <a:rPr b="1" lang="en" sz="5781">
                <a:solidFill>
                  <a:srgbClr val="1F1F1F"/>
                </a:solidFill>
              </a:rPr>
              <a:t>Multi-Pipeline:</a:t>
            </a:r>
            <a:r>
              <a:rPr lang="en" sz="5781">
                <a:solidFill>
                  <a:srgbClr val="1F1F1F"/>
                </a:solidFill>
              </a:rPr>
              <a:t> We run </a:t>
            </a:r>
            <a:r>
              <a:rPr b="1" lang="en" sz="5781">
                <a:solidFill>
                  <a:srgbClr val="1F1F1F"/>
                </a:solidFill>
              </a:rPr>
              <a:t>two independent</a:t>
            </a:r>
            <a:r>
              <a:rPr lang="en" sz="5781">
                <a:solidFill>
                  <a:srgbClr val="1F1F1F"/>
                </a:solidFill>
              </a:rPr>
              <a:t> AI pipelines from guideline to decision table.</a:t>
            </a:r>
            <a:endParaRPr sz="5781">
              <a:solidFill>
                <a:srgbClr val="1F1F1F"/>
              </a:solidFill>
            </a:endParaRPr>
          </a:p>
          <a:p>
            <a:pPr indent="-347901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Char char="●"/>
            </a:pPr>
            <a:r>
              <a:rPr b="1" lang="en" sz="5781">
                <a:solidFill>
                  <a:srgbClr val="1F1F1F"/>
                </a:solidFill>
              </a:rPr>
              <a:t>Adversarial Agents:</a:t>
            </a:r>
            <a:r>
              <a:rPr lang="en" sz="5781">
                <a:solidFill>
                  <a:srgbClr val="1F1F1F"/>
                </a:solidFill>
              </a:rPr>
              <a:t> A specialized "Red Team" AI attacks each step, hunting for "silent killers":</a:t>
            </a:r>
            <a:endParaRPr sz="5781">
              <a:solidFill>
                <a:srgbClr val="1F1F1F"/>
              </a:solidFill>
            </a:endParaRPr>
          </a:p>
          <a:p>
            <a:pPr indent="-347901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Char char="○"/>
            </a:pPr>
            <a:r>
              <a:rPr i="1" lang="en" sz="5781">
                <a:solidFill>
                  <a:srgbClr val="1F1F1F"/>
                </a:solidFill>
              </a:rPr>
              <a:t>What if they are out of the treatment? </a:t>
            </a:r>
            <a:endParaRPr i="1" sz="5781">
              <a:solidFill>
                <a:srgbClr val="1F1F1F"/>
              </a:solidFill>
            </a:endParaRPr>
          </a:p>
          <a:p>
            <a:pPr indent="-347901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Char char="○"/>
            </a:pPr>
            <a:r>
              <a:rPr i="1" lang="en" sz="5781">
                <a:solidFill>
                  <a:srgbClr val="1F1F1F"/>
                </a:solidFill>
              </a:rPr>
              <a:t>Does this rule contradict Page 42?</a:t>
            </a:r>
            <a:endParaRPr i="1" sz="5781">
              <a:solidFill>
                <a:srgbClr val="1F1F1F"/>
              </a:solidFill>
            </a:endParaRPr>
          </a:p>
          <a:p>
            <a:pPr indent="-347901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Char char="○"/>
            </a:pPr>
            <a:r>
              <a:rPr i="1" lang="en" sz="5781">
                <a:solidFill>
                  <a:srgbClr val="1F1F1F"/>
                </a:solidFill>
              </a:rPr>
              <a:t>Are terms unclear? </a:t>
            </a:r>
            <a:endParaRPr i="1" sz="5781">
              <a:solidFill>
                <a:srgbClr val="1F1F1F"/>
              </a:solidFill>
            </a:endParaRPr>
          </a:p>
          <a:p>
            <a:pPr indent="-347901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ct val="100000"/>
              <a:buChar char="●"/>
            </a:pPr>
            <a:r>
              <a:rPr b="1" lang="en" sz="5781">
                <a:solidFill>
                  <a:srgbClr val="1F1F1F"/>
                </a:solidFill>
              </a:rPr>
              <a:t>Consensus Gate:</a:t>
            </a:r>
            <a:r>
              <a:rPr lang="en" sz="5781">
                <a:solidFill>
                  <a:srgbClr val="1F1F1F"/>
                </a:solidFill>
              </a:rPr>
              <a:t> No code generation unless both pipelines exhibit behavioral equivalence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Pipeline of LLM </a:t>
            </a:r>
            <a:r>
              <a:rPr lang="en"/>
              <a:t>prompts 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Determine supplies and equipment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Determine local environmental shifters: Rural, “Malaria nearby,” stockout of malaria rapid test,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Divide the manual into specific facts and “species” of fact: Determine order of modules (cough, fever, etc); determine when to do a test or ask a questions; clinically relevant cutpoints, decision rules; integrative issues (drug interactions, etc).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Look for “rough edges” in the manual and wait for MOH clarifications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Digesting a manual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a list of facts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Create a table of symbols (facts, tests, diagnoses, treatments, etc.)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Building off of WHO’s crisis care digital adaptation kit, whose dictionary has most of the relevant terms (along with FHIR-compliant codes for drugs, diagnoses, etc.)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Turn all continuous variables into </a:t>
            </a:r>
            <a:r>
              <a:rPr lang="en"/>
              <a:t>Boolean variables used in decisions.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Create rules for when modules get added to the queue and the order of execution in the queue (including possibly skipping the queue for emergency referrals.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Create the clinical decision logic for each module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SCHEMAS	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Markdown format to describe the pipeline from PDF manual to DMN and then XLSForm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DMN: What subset of logic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Patient data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Medical record = log file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Snippet of text and source and hash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Symbols table = Dictionary mapping concepts and definitions &amp; </a:t>
            </a:r>
            <a:endParaRPr/>
          </a:p>
          <a:p>
            <a:pPr indent="-31718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Phrase bank which translates "malaria" into Hindi or Swahili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Keywords like "malaria" or "temp_C" or "high_fever"  ex.temp = exam to take temperature or dx.malaria </a:t>
            </a:r>
            <a:endParaRPr/>
          </a:p>
          <a:p>
            <a:pPr indent="-31718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Predicate tableturns ontinuous and categorical data into true/false: 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if temp_C &gt; 37.5 then has_fever = true , if muac=red then muac_red= true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MOH approval of the </a:t>
            </a:r>
            <a:r>
              <a:rPr lang="en"/>
              <a:t>clinical</a:t>
            </a:r>
            <a:r>
              <a:rPr lang="en"/>
              <a:t> logic </a:t>
            </a:r>
            <a:endParaRPr/>
          </a:p>
        </p:txBody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Turn the clinical logic into </a:t>
            </a:r>
            <a:r>
              <a:rPr lang="en"/>
              <a:t>artifacts for clinicians to review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brief </a:t>
            </a:r>
            <a:r>
              <a:rPr lang="en"/>
              <a:t>narrative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decision table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 flowchart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Wait for MOH clinical approval 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Flowchart of the traffic cop: Output = next </a:t>
            </a:r>
            <a:r>
              <a:rPr lang="en"/>
              <a:t>module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356"/>
              <a:t>Note: Runs after every module, priority order</a:t>
            </a:r>
            <a:endParaRPr sz="2356"/>
          </a:p>
        </p:txBody>
      </p:sp>
      <p:pic>
        <p:nvPicPr>
          <p:cNvPr id="115" name="Google Shape;115;p23"/>
          <p:cNvPicPr preferRelativeResize="0"/>
          <p:nvPr/>
        </p:nvPicPr>
        <p:blipFill rotWithShape="1">
          <a:blip r:embed="rId3">
            <a:alphaModFix/>
          </a:blip>
          <a:srcRect b="0" l="0" r="0" t="8601"/>
          <a:stretch/>
        </p:blipFill>
        <p:spPr>
          <a:xfrm>
            <a:off x="642825" y="1340800"/>
            <a:ext cx="7697900" cy="3840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" name="Google Shape;120;p24"/>
          <p:cNvGraphicFramePr/>
          <p:nvPr/>
        </p:nvGraphicFramePr>
        <p:xfrm>
          <a:off x="420900" y="792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{B8DC74C7-A51D-424A-8400-F6C460B2B271}</a:tableStyleId>
              </a:tblPr>
              <a:tblGrid>
                <a:gridCol w="972475"/>
                <a:gridCol w="707275"/>
                <a:gridCol w="1337000"/>
                <a:gridCol w="1446375"/>
                <a:gridCol w="1212125"/>
                <a:gridCol w="2719925"/>
              </a:tblGrid>
              <a:tr h="53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Start</a:t>
                      </a:r>
                      <a:endParaRPr b="1" sz="11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has_fever &amp; not fever_mod_done</a:t>
                      </a:r>
                      <a:endParaRPr b="1" sz="11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 sz="1100">
                          <a:solidFill>
                            <a:schemeClr val="dk1"/>
                          </a:solidFill>
                        </a:rPr>
                        <a:t>has_cough &amp; not cough_mod_done</a:t>
                      </a:r>
                      <a:endParaRPr b="1" sz="11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urgent_referral</a:t>
                      </a:r>
                      <a:endParaRPr b="1" sz="11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OUTPUT (that is, next module to run)</a:t>
                      </a:r>
                      <a:endParaRPr b="1" sz="11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3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Urgent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True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Urgent referral (priority = 1)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641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At start 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True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Opening_mod (priority = 2)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Fever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True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Fever_mod (priority = 4. Fever is lower priority than cough_mod solely because the tie-breaker: Fever is later alphabetically)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39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Cough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True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Cough_mod (priority = 3)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Closing 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-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Closing_mod (priority = 5. Because the closing module is the lowest priority, it only runs when the queue is empty)</a:t>
                      </a:r>
                      <a:endParaRPr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1" name="Google Shape;121;p24"/>
          <p:cNvSpPr txBox="1"/>
          <p:nvPr>
            <p:ph type="title"/>
          </p:nvPr>
        </p:nvSpPr>
        <p:spPr>
          <a:xfrm>
            <a:off x="358188" y="159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Traffic cop fragment, priority order </a:t>
            </a:r>
            <a:endParaRPr/>
          </a:p>
        </p:txBody>
      </p:sp>
      <p:sp>
        <p:nvSpPr>
          <p:cNvPr id="122" name="Google Shape;122;p24"/>
          <p:cNvSpPr txBox="1"/>
          <p:nvPr/>
        </p:nvSpPr>
        <p:spPr>
          <a:xfrm>
            <a:off x="209525" y="4126050"/>
            <a:ext cx="8520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</a:rPr>
              <a:t>Notes: 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Priority is metadata for each output.  The AIs set priority, probably just before they write the DMN tables. Decision tables shown to MDs must show priority for each option.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Any module can set has_fever, has_cough, etc. to True.  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lang="en" sz="1000">
                <a:solidFill>
                  <a:schemeClr val="dk1"/>
                </a:solidFill>
              </a:rPr>
              <a:t>The last thing module X does is set X_mod_done =True; e.g the fever module sets fever_mod_done = True.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rhythm of a </a:t>
            </a:r>
            <a:r>
              <a:rPr lang="en"/>
              <a:t>patient</a:t>
            </a:r>
            <a:r>
              <a:rPr lang="en"/>
              <a:t> </a:t>
            </a:r>
            <a:endParaRPr/>
          </a:p>
        </p:txBody>
      </p:sp>
      <p:sp>
        <p:nvSpPr>
          <p:cNvPr id="128" name="Google Shape;12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Queue starts with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Set at_start = True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Traffic cop picks the next module in priority order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Emergency referral (if present) has highest priority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Until traffic cop has no more modules to do &amp; ends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4700" y="258251"/>
            <a:ext cx="7968576" cy="4350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18700"/>
            <a:ext cx="8839200" cy="3547757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7"/>
          <p:cNvSpPr txBox="1"/>
          <p:nvPr/>
        </p:nvSpPr>
        <p:spPr>
          <a:xfrm>
            <a:off x="152400" y="3322725"/>
            <a:ext cx="8715300" cy="1625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700">
                <a:solidFill>
                  <a:schemeClr val="dk1"/>
                </a:solidFill>
              </a:rPr>
              <a:t>This "DMN" table for children with a cough was generated solely by an LLM </a:t>
            </a:r>
            <a:endParaRPr sz="17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700">
                <a:solidFill>
                  <a:schemeClr val="dk1"/>
                </a:solidFill>
              </a:rPr>
              <a:t>We can easily translate this table into the XLSForm that CHT uses</a:t>
            </a:r>
            <a:endParaRPr sz="1700">
              <a:solidFill>
                <a:schemeClr val="dk1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" sz="1700">
                <a:solidFill>
                  <a:schemeClr val="dk1"/>
                </a:solidFill>
              </a:rPr>
              <a:t>MDs can review tables like this one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" sz="1700">
                <a:solidFill>
                  <a:schemeClr val="dk1"/>
                </a:solidFill>
              </a:rPr>
              <a:t>And into a flowchart for clinicians to review</a:t>
            </a:r>
            <a:endParaRPr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At end: set cough_mod_done = true and return to the traffic cop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any module</a:t>
            </a:r>
            <a:endParaRPr/>
          </a:p>
        </p:txBody>
      </p:sp>
      <p:sp>
        <p:nvSpPr>
          <p:cNvPr id="145" name="Google Shape;14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Cough table asks about a combination of respiration rate and age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Implies: respiration rate &amp; age are in the data before we get to this table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Turn continuous or categorical into true/false (Boolean or dummy) </a:t>
            </a:r>
            <a:r>
              <a:rPr lang="en"/>
              <a:t>variables</a:t>
            </a:r>
            <a:r>
              <a:rPr lang="en"/>
              <a:t>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age_mo &lt; 12 then </a:t>
            </a:r>
            <a:r>
              <a:rPr lang="en"/>
              <a:t>age_lt_12_mo = true  (MD sees "Age &lt; 12 months")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rr_min &gt;= 50 then </a:t>
            </a:r>
            <a:r>
              <a:rPr lang="en"/>
              <a:t>rr_ge_50_min </a:t>
            </a:r>
            <a:r>
              <a:rPr lang="en"/>
              <a:t>= true ("RR ≥ 50 / min.")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rr_min &gt;= 40 then </a:t>
            </a:r>
            <a:r>
              <a:rPr lang="en"/>
              <a:t>r</a:t>
            </a:r>
            <a:r>
              <a:rPr lang="en"/>
              <a:t>r_ge_40_min= true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For each measure, we handle missing data, as in: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if muac = missing then muac_missing = true 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inputs does each DMN require? </a:t>
            </a:r>
            <a:endParaRPr/>
          </a:p>
        </p:txBody>
      </p:sp>
      <p:sp>
        <p:nvSpPr>
          <p:cNvPr id="151" name="Google Shape;151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A DMN requires some boolean inputs.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Each boolean input requires (and implies)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1. A yes/no question or exam (e.g., Is there blood in stool?)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2. A yes/no data from the medical record (not yet implemented, and not a priority)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3. boolean, Categorical or continuous data from question, exam or medical record + some logic to create yes/no.  (e.g., "Ask age in months or years") converts to age in months converts to age_le_12_mo or whatever.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en"/>
              <a:t>So the one artifact created by the LLM is to draw out these implications and format them so the compiler can output the appropriate XLSForm.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For example: a cough diagnosis table might have inputs:  p_age_2_59m	p_fast_breathing	p_chest_indrawing	p_danger_sign</a:t>
            </a:r>
            <a:endParaRPr/>
          </a:p>
        </p:txBody>
      </p:sp>
      <p:sp>
        <p:nvSpPr>
          <p:cNvPr id="152" name="Google Shape;152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/>
              <a:t>So implies logic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* p_age_2_59m = true if age_mo &gt;= 2 &amp; age_mo &lt;=59 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/>
              <a:t>* p_fast_breathing = F( measurement   of respiration rates / minute, age)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/>
              <a:t>* p_danger_sign = true if any of a bunch of earlier observations or questions on convulsions, etc. are true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 sz="1800"/>
              <a:t>In turn, that logic implies data collection (if not already collected): </a:t>
            </a:r>
            <a:endParaRPr sz="1800"/>
          </a:p>
          <a:p>
            <a:pPr indent="-261779" lvl="0" marL="457200" rtl="0" algn="l">
              <a:spcBef>
                <a:spcPts val="130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 sz="1800"/>
              <a:t>ask or find in medical record: age_mo </a:t>
            </a:r>
            <a:endParaRPr sz="1800"/>
          </a:p>
          <a:p>
            <a:pPr indent="-26177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 sz="1800"/>
              <a:t>measurement of respiration rate</a:t>
            </a:r>
            <a:endParaRPr sz="1800"/>
          </a:p>
          <a:p>
            <a:pPr indent="-26177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 sz="1800"/>
              <a:t>observation of chest indrawing</a:t>
            </a:r>
            <a:endParaRPr sz="1800"/>
          </a:p>
          <a:p>
            <a:pPr indent="-261779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Char char="●"/>
            </a:pPr>
            <a:r>
              <a:rPr lang="en" sz="1800"/>
              <a:t>observation of all the general danger signs</a:t>
            </a:r>
            <a:endParaRPr sz="1800"/>
          </a:p>
          <a:p>
            <a:pPr indent="0" lvl="0" marL="0" rtl="0" algn="l">
              <a:spcBef>
                <a:spcPts val="1300"/>
              </a:spcBef>
              <a:spcAft>
                <a:spcPts val="0"/>
              </a:spcAft>
              <a:buNone/>
            </a:pPr>
            <a:r>
              <a:rPr lang="en" sz="1800"/>
              <a:t>One intermediate artifact is the source of each variable:</a:t>
            </a:r>
            <a:endParaRPr sz="1800"/>
          </a:p>
          <a:p>
            <a:pPr indent="-2828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Some data are from the opening module: age_mo and observation of all the general danger signs.  So no need to collect in later modules. </a:t>
            </a:r>
            <a:endParaRPr sz="1800"/>
          </a:p>
          <a:p>
            <a:pPr indent="-2828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Some data may be collected only in one module, so always collect for that DMN</a:t>
            </a:r>
            <a:endParaRPr sz="1800"/>
          </a:p>
          <a:p>
            <a:pPr indent="-282893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1800"/>
              <a:t>Some data may be already known if they went to a particular earlier module.  So need to check "If temp_C = missing then ex_temp_C" where ex_temp_C is instructions to the CHW to take temperature. 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is a standard list of </a:t>
            </a:r>
            <a:r>
              <a:rPr lang="en"/>
              <a:t>variable</a:t>
            </a:r>
            <a:r>
              <a:rPr lang="en"/>
              <a:t> names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q.age_mo  "What is you child's age (in months)?"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ex.temp_C "Use the thermometer to take </a:t>
            </a:r>
            <a:r>
              <a:rPr lang="en"/>
              <a:t>temperature</a:t>
            </a:r>
            <a:r>
              <a:rPr lang="en"/>
              <a:t>"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Many (but not all) are in </a:t>
            </a:r>
            <a:r>
              <a:rPr lang="en"/>
              <a:t>the</a:t>
            </a:r>
            <a:r>
              <a:rPr lang="en"/>
              <a:t> dictionary emett </a:t>
            </a:r>
            <a:r>
              <a:rPr lang="en"/>
              <a:t>circulated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You can add to that dictionary following </a:t>
            </a:r>
            <a:r>
              <a:rPr lang="en"/>
              <a:t>the</a:t>
            </a:r>
            <a:r>
              <a:rPr lang="en"/>
              <a:t> naming conventions.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Possible e</a:t>
            </a:r>
            <a:r>
              <a:rPr lang="en"/>
              <a:t>xample</a:t>
            </a:r>
            <a:r>
              <a:rPr lang="en"/>
              <a:t> of a fragment of a patient's data: {age_mo : 32, temp_C : 38.1, cough = True ,... }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product, testing </a:t>
            </a:r>
            <a:r>
              <a:rPr lang="en"/>
              <a:t>and</a:t>
            </a:r>
            <a:r>
              <a:rPr lang="en"/>
              <a:t> medical teams should create the real format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1"/>
          <p:cNvSpPr txBox="1"/>
          <p:nvPr/>
        </p:nvSpPr>
        <p:spPr>
          <a:xfrm>
            <a:off x="1572000" y="681675"/>
            <a:ext cx="3000000" cy="6156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If the manual does not cover a stock-out, mention that fact</a:t>
            </a:r>
            <a:endParaRPr b="1" sz="1700"/>
          </a:p>
        </p:txBody>
      </p:sp>
      <p:graphicFrame>
        <p:nvGraphicFramePr>
          <p:cNvPr id="164" name="Google Shape;164;p31"/>
          <p:cNvGraphicFramePr/>
          <p:nvPr/>
        </p:nvGraphicFramePr>
        <p:xfrm>
          <a:off x="1518500" y="1816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{B8DC74C7-A51D-424A-8400-F6C460B2B271}</a:tableStyleId>
              </a:tblPr>
              <a:tblGrid>
                <a:gridCol w="1809750"/>
                <a:gridCol w="1144700"/>
                <a:gridCol w="2078600"/>
                <a:gridCol w="2205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Diagnosis </a:t>
                      </a:r>
                      <a:endParaRPr b="1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CHW Has amox</a:t>
                      </a:r>
                      <a:endParaRPr b="1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Treatment </a:t>
                      </a:r>
                      <a:endParaRPr b="1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Dosing table</a:t>
                      </a:r>
                      <a:endParaRPr b="1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3F3F3"/>
                    </a:solidFill>
                  </a:tcPr>
                </a:tc>
              </a:tr>
              <a:tr h="5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Pneumonia 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True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tx_amox 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dose_amox_pneumonia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Pneumonia 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False 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ALERT: Manual does not cover this case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00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SeverePneumonia 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refer_clinic_today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N/A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coughCold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-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Go home and rest 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N/A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5" name="Google Shape;165;p31"/>
          <p:cNvSpPr txBox="1"/>
          <p:nvPr/>
        </p:nvSpPr>
        <p:spPr>
          <a:xfrm>
            <a:off x="4988575" y="281475"/>
            <a:ext cx="3000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SAMPLE </a:t>
            </a:r>
            <a:r>
              <a:rPr b="1" lang="en" sz="2000">
                <a:solidFill>
                  <a:schemeClr val="dk1"/>
                </a:solidFill>
              </a:rPr>
              <a:t>Treatment table for Cough module </a:t>
            </a:r>
            <a:endParaRPr b="1" sz="23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0" name="Google Shape;170;p32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{B85B8101-B33C-41C8-9E00-77A507C5AA1F}</a:tableStyleId>
              </a:tblPr>
              <a:tblGrid>
                <a:gridCol w="1876425"/>
                <a:gridCol w="6953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Input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Type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age_months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diagnosis_pneumonia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boolean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danger_sign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boolean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chest_indrawing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boolean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71" name="Google Shape;171;p32"/>
          <p:cNvGraphicFramePr/>
          <p:nvPr/>
        </p:nvGraphicFramePr>
        <p:xfrm>
          <a:off x="1253850" y="2913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{B85B8101-B33C-41C8-9E00-77A507C5AA1F}</a:tableStyleId>
              </a:tblPr>
              <a:tblGrid>
                <a:gridCol w="4223200"/>
                <a:gridCol w="2711425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Output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Type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amoxicillin_single_dose_mg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doses_per_day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treatment_days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tablets_250mg_per_dose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number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3"/>
          <p:cNvSpPr txBox="1"/>
          <p:nvPr/>
        </p:nvSpPr>
        <p:spPr>
          <a:xfrm>
            <a:off x="609600" y="60960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600"/>
              <a:t>DMN Decision Table</a:t>
            </a:r>
            <a:endParaRPr b="1" sz="26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Decision Name:</a:t>
            </a:r>
            <a:r>
              <a:rPr lang="en"/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amoxicillin_dose_pneumonia_child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/>
              <a:t>Hit Policy:</a:t>
            </a:r>
            <a:r>
              <a:rPr lang="en"/>
              <a:t> </a:t>
            </a:r>
            <a:r>
              <a:rPr lang="en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UNIQUE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/>
              <a:t>Inputs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00"/>
              <a:t>Outputs</a:t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600"/>
          </a:p>
          <a:p>
            <a:pPr indent="0" lvl="0" marL="0" rtl="0" algn="l">
              <a:lnSpc>
                <a:spcPct val="115000"/>
              </a:lnSpc>
              <a:spcBef>
                <a:spcPts val="2400"/>
              </a:spcBef>
              <a:spcAft>
                <a:spcPts val="600"/>
              </a:spcAft>
              <a:buNone/>
            </a:pPr>
            <a:r>
              <a:rPr b="1" lang="en" sz="2600"/>
              <a:t>DMN Table</a:t>
            </a:r>
            <a:endParaRPr b="1" sz="2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1" name="Google Shape;181;p34"/>
          <p:cNvGraphicFramePr/>
          <p:nvPr/>
        </p:nvGraphicFramePr>
        <p:xfrm>
          <a:off x="612350" y="3123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{B85B8101-B33C-41C8-9E00-77A507C5AA1F}</a:tableStyleId>
              </a:tblPr>
              <a:tblGrid>
                <a:gridCol w="1943100"/>
                <a:gridCol w="695325"/>
                <a:gridCol w="31623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Input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Type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Description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age_months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number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Age in months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182" name="Google Shape;182;p34"/>
          <p:cNvGraphicFramePr/>
          <p:nvPr/>
        </p:nvGraphicFramePr>
        <p:xfrm>
          <a:off x="5936550" y="1468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{B85B8101-B33C-41C8-9E00-77A507C5AA1F}</a:tableStyleId>
              </a:tblPr>
              <a:tblGrid>
                <a:gridCol w="2052275"/>
                <a:gridCol w="88125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Output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Type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tablets_250mg_per_dose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number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doses_per_day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number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treatment_days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number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3" name="Google Shape;183;p34"/>
          <p:cNvSpPr txBox="1"/>
          <p:nvPr/>
        </p:nvSpPr>
        <p:spPr>
          <a:xfrm>
            <a:off x="252100" y="35855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b="1" lang="en" sz="1700"/>
              <a:t>Decision</a:t>
            </a:r>
            <a:endParaRPr b="1" sz="1700"/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rPr b="1" lang="en" sz="1100"/>
              <a:t>Decision Name: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amoxicillin_dose_pneumonia_child</a:t>
            </a:r>
            <a:b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" sz="1100"/>
              <a:t> Hit Policy: </a:t>
            </a:r>
            <a:r>
              <a:rPr b="1" lang="en" sz="11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UNIQUE</a:t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r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r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b="1" sz="1700"/>
          </a:p>
          <a:p>
            <a:pPr indent="0" lvl="0" marL="0" rtl="0" algn="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t/>
            </a:r>
            <a:endParaRPr b="1" sz="1700"/>
          </a:p>
        </p:txBody>
      </p:sp>
      <p:sp>
        <p:nvSpPr>
          <p:cNvPr id="184" name="Google Shape;184;p34"/>
          <p:cNvSpPr txBox="1"/>
          <p:nvPr/>
        </p:nvSpPr>
        <p:spPr>
          <a:xfrm>
            <a:off x="5870063" y="909325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Outputs</a:t>
            </a:r>
            <a:endParaRPr b="1" sz="1700">
              <a:solidFill>
                <a:schemeClr val="dk1"/>
              </a:solidFill>
            </a:endParaRPr>
          </a:p>
        </p:txBody>
      </p:sp>
      <p:sp>
        <p:nvSpPr>
          <p:cNvPr id="185" name="Google Shape;185;p34"/>
          <p:cNvSpPr txBox="1"/>
          <p:nvPr/>
        </p:nvSpPr>
        <p:spPr>
          <a:xfrm>
            <a:off x="1018800" y="23485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b="1" lang="en"/>
              <a:t>Inputs</a:t>
            </a:r>
            <a:endParaRPr b="1"/>
          </a:p>
        </p:txBody>
      </p:sp>
      <p:sp>
        <p:nvSpPr>
          <p:cNvPr id="186" name="Google Shape;186;p34"/>
          <p:cNvSpPr txBox="1"/>
          <p:nvPr/>
        </p:nvSpPr>
        <p:spPr>
          <a:xfrm>
            <a:off x="185575" y="99050"/>
            <a:ext cx="4823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Sample DMN dosing table: Metadata</a:t>
            </a:r>
            <a:endParaRPr b="1" sz="23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1" name="Google Shape;191;p35"/>
          <p:cNvGraphicFramePr/>
          <p:nvPr/>
        </p:nvGraphicFramePr>
        <p:xfrm>
          <a:off x="353425" y="1871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{B85B8101-B33C-41C8-9E00-77A507C5AA1F}</a:tableStyleId>
              </a:tblPr>
              <a:tblGrid>
                <a:gridCol w="1046525"/>
                <a:gridCol w="1497350"/>
                <a:gridCol w="2554500"/>
                <a:gridCol w="1562750"/>
                <a:gridCol w="1592800"/>
              </a:tblGrid>
              <a:tr h="2381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Rule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A</a:t>
                      </a:r>
                      <a:r>
                        <a:rPr b="1" lang="en"/>
                        <a:t>ge_le_6 _mo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tablets_250mg_per_dose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doses_per_day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treatment_days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EFEFEF"/>
                    </a:solidFill>
                  </a:tcPr>
                </a:tc>
              </a:tr>
              <a:tr h="4477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1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true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1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2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5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2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false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2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2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5</a:t>
                      </a:r>
                      <a:endParaRPr sz="1700"/>
                    </a:p>
                  </a:txBody>
                  <a:tcPr marT="91425" marB="91425" marR="91425" marL="91425"/>
                </a:tc>
              </a:tr>
              <a:tr h="2381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3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missing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/>
                        <a:t>…</a:t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7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2" name="Google Shape;192;p35"/>
          <p:cNvSpPr txBox="1"/>
          <p:nvPr/>
        </p:nvSpPr>
        <p:spPr>
          <a:xfrm>
            <a:off x="2732550" y="693350"/>
            <a:ext cx="36789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Sample DMN dosing table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solidFill>
                  <a:schemeClr val="dk1"/>
                </a:solidFill>
              </a:rPr>
              <a:t>Fires if </a:t>
            </a:r>
            <a:r>
              <a:rPr b="1" lang="en" sz="2000">
                <a:solidFill>
                  <a:schemeClr val="dk1"/>
                </a:solidFill>
              </a:rPr>
              <a:t>tx_amoxicillin= true</a:t>
            </a:r>
            <a:endParaRPr b="1" sz="2600">
              <a:solidFill>
                <a:schemeClr val="dk1"/>
              </a:solidFill>
            </a:endParaRPr>
          </a:p>
        </p:txBody>
      </p:sp>
      <p:sp>
        <p:nvSpPr>
          <p:cNvPr id="193" name="Google Shape;193;p35"/>
          <p:cNvSpPr txBox="1"/>
          <p:nvPr/>
        </p:nvSpPr>
        <p:spPr>
          <a:xfrm>
            <a:off x="0" y="0"/>
            <a:ext cx="7557600" cy="6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LLM </a:t>
            </a:r>
            <a:r>
              <a:rPr b="1" lang="en">
                <a:solidFill>
                  <a:schemeClr val="dk1"/>
                </a:solidFill>
              </a:rPr>
              <a:t>generates</a:t>
            </a:r>
            <a:r>
              <a:rPr b="1" lang="en">
                <a:solidFill>
                  <a:schemeClr val="dk1"/>
                </a:solidFill>
              </a:rPr>
              <a:t> and shares with testeing team: a table with conversions from continuous to boolean, such as:  </a:t>
            </a:r>
            <a:r>
              <a:rPr b="1" lang="en">
                <a:solidFill>
                  <a:schemeClr val="dk1"/>
                </a:solidFill>
              </a:rPr>
              <a:t>if age_mo &lt;= 6 then a</a:t>
            </a:r>
            <a:r>
              <a:rPr b="1" lang="en">
                <a:solidFill>
                  <a:schemeClr val="dk1"/>
                </a:solidFill>
              </a:rPr>
              <a:t>ge_le_6 _mo = true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8" name="Google Shape;198;p36"/>
          <p:cNvGraphicFramePr/>
          <p:nvPr/>
        </p:nvGraphicFramePr>
        <p:xfrm>
          <a:off x="374413" y="1111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{B8DC74C7-A51D-424A-8400-F6C460B2B271}</a:tableStyleId>
              </a:tblPr>
              <a:tblGrid>
                <a:gridCol w="1701200"/>
                <a:gridCol w="721400"/>
                <a:gridCol w="983275"/>
                <a:gridCol w="1057250"/>
                <a:gridCol w="1106000"/>
                <a:gridCol w="2826050"/>
              </a:tblGrid>
              <a:tr h="53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Start?</a:t>
                      </a:r>
                      <a:endParaRPr b="1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Has fever?</a:t>
                      </a:r>
                      <a:endParaRPr b="1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Has cough?</a:t>
                      </a:r>
                      <a:endParaRPr b="1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Has diarrhea?</a:t>
                      </a:r>
                      <a:endParaRPr b="1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Results</a:t>
                      </a:r>
                      <a:endParaRPr b="1" sz="11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At start 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 opening module + integrative module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Set start = false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Fever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 fever module at end of queue, but before integrative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Cough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 cough module at end of queue, but before integrative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Diarrhea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 diarrhea module at end of queue, but before integrative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End this decision table (unless at start, in which case see manual)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9" name="Google Shape;199;p36"/>
          <p:cNvSpPr txBox="1"/>
          <p:nvPr/>
        </p:nvSpPr>
        <p:spPr>
          <a:xfrm>
            <a:off x="0" y="53050"/>
            <a:ext cx="8340900" cy="10467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Traffic cop 1: Add modules to queue (runs after every module)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Hit policy: Multiple hits allowed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Inputs: Start (boolean)+symptoms that trigger a module (such as Fever, etc.)+queue of modules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Output: Queue of modules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4" name="Google Shape;204;p37"/>
          <p:cNvGraphicFramePr/>
          <p:nvPr/>
        </p:nvGraphicFramePr>
        <p:xfrm>
          <a:off x="126788" y="913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{B8DC74C7-A51D-424A-8400-F6C460B2B271}</a:tableStyleId>
              </a:tblPr>
              <a:tblGrid>
                <a:gridCol w="953400"/>
                <a:gridCol w="512625"/>
                <a:gridCol w="630050"/>
                <a:gridCol w="771250"/>
                <a:gridCol w="1073075"/>
                <a:gridCol w="738175"/>
                <a:gridCol w="738175"/>
                <a:gridCol w="636925"/>
                <a:gridCol w="2914275"/>
              </a:tblGrid>
              <a:tr h="536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Start?</a:t>
                      </a:r>
                      <a:endParaRPr b="1"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Has fever?</a:t>
                      </a:r>
                      <a:endParaRPr b="1"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Done fever module </a:t>
                      </a:r>
                      <a:endParaRPr b="1"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Has cough?</a:t>
                      </a:r>
                      <a:endParaRPr b="1"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Done diarrhea?</a:t>
                      </a:r>
                      <a:endParaRPr b="1"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Has diarrhea?</a:t>
                      </a:r>
                      <a:endParaRPr b="1"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/>
                        <a:t>Done diarrhea?</a:t>
                      </a:r>
                      <a:endParaRPr b="1" sz="12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Results</a:t>
                      </a:r>
                      <a:endParaRPr b="1" sz="1100"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5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At start 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 opening module + integrative module </a:t>
                      </a:r>
                      <a:endParaRPr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Set start = false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Fever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 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 fever module at end of queue, but before integrative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Cough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 cough module at end of queue, but before integrative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28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Diarrhea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Add diarrhea module at end of queue, but before integrative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5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Else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any</a:t>
                      </a:r>
                      <a:endParaRPr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End this decision table (unless at start, in which case see manual)</a:t>
                      </a:r>
                      <a:endParaRPr/>
                    </a:p>
                  </a:txBody>
                  <a:tcPr marT="88900" marB="88900" marR="88900" marL="88900">
                    <a:lnL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05" name="Google Shape;205;p37"/>
          <p:cNvSpPr txBox="1"/>
          <p:nvPr/>
        </p:nvSpPr>
        <p:spPr>
          <a:xfrm>
            <a:off x="0" y="53050"/>
            <a:ext cx="8340900" cy="831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Traffic cop 1: Add modules to queue (runs after every module)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>
                <a:solidFill>
                  <a:schemeClr val="dk1"/>
                </a:solidFill>
              </a:rPr>
              <a:t>Hit policy: Multiple hits allowed  Inputs: Start (boolean)+symptoms that trigger a module (such as Fever, etc.)+queue of modules  Output: Queue of modules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9199"/>
            <a:ext cx="8991601" cy="4908501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8"/>
          <p:cNvSpPr txBox="1"/>
          <p:nvPr/>
        </p:nvSpPr>
        <p:spPr>
          <a:xfrm>
            <a:off x="5556625" y="713425"/>
            <a:ext cx="3000000" cy="831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Traffic cop 1: Add modules to the </a:t>
            </a:r>
            <a:r>
              <a:rPr b="1" lang="en">
                <a:solidFill>
                  <a:schemeClr val="dk1"/>
                </a:solidFill>
              </a:rPr>
              <a:t>queue. Gemini version of prior table</a:t>
            </a:r>
            <a:r>
              <a:rPr b="1" lang="en">
                <a:solidFill>
                  <a:schemeClr val="dk1"/>
                </a:solidFill>
              </a:rPr>
              <a:t> </a:t>
            </a:r>
            <a:endParaRPr b="1" sz="17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can you draw the flowchart for this decision table?" id="216" name="Google Shape;216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39"/>
          <p:cNvSpPr txBox="1"/>
          <p:nvPr/>
        </p:nvSpPr>
        <p:spPr>
          <a:xfrm>
            <a:off x="7219800" y="105975"/>
            <a:ext cx="1924200" cy="8313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Gemini drew this flowchart based on the decision table</a:t>
            </a:r>
            <a:endParaRPr b="1" sz="1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Translate all CHW-facing text </a:t>
            </a:r>
            <a:endParaRPr/>
          </a:p>
        </p:txBody>
      </p:sp>
      <p:sp>
        <p:nvSpPr>
          <p:cNvPr id="223" name="Google Shape;223;p40"/>
          <p:cNvSpPr txBox="1"/>
          <p:nvPr>
            <p:ph idx="1" type="body"/>
          </p:nvPr>
        </p:nvSpPr>
        <p:spPr>
          <a:xfrm>
            <a:off x="311705" y="1117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Two separate AIs </a:t>
            </a:r>
            <a:r>
              <a:rPr lang="en">
                <a:solidFill>
                  <a:srgbClr val="000000"/>
                </a:solidFill>
              </a:rPr>
              <a:t>translates all phrases into the requested languages, including </a:t>
            </a:r>
            <a:r>
              <a:rPr lang="en">
                <a:solidFill>
                  <a:schemeClr val="dk1"/>
                </a:solidFill>
              </a:rPr>
              <a:t>the “How do I?” guidance for giving exams, providing treatments, etc.  They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Avoid jargon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">
                <a:solidFill>
                  <a:srgbClr val="000000"/>
                </a:solidFill>
              </a:rPr>
              <a:t>Use locally appropriate terms. 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 third AI back-translates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A final AI </a:t>
            </a:r>
            <a:r>
              <a:rPr lang="en">
                <a:solidFill>
                  <a:srgbClr val="000000"/>
                </a:solidFill>
              </a:rPr>
              <a:t>reviews and improves the translations 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</a:rPr>
              <a:t>The resulting phrase book is shared with clinicians and CHWs in a form that they can easily edit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000000"/>
                </a:solidFill>
              </a:rPr>
              <a:t>The software uses only phrases that clinicians and CHWs have approved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8" name="Google Shape;228;p41"/>
          <p:cNvGraphicFramePr/>
          <p:nvPr/>
        </p:nvGraphicFramePr>
        <p:xfrm>
          <a:off x="971375" y="1649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{B8DC74C7-A51D-424A-8400-F6C460B2B271}</a:tableStyleId>
              </a:tblPr>
              <a:tblGrid>
                <a:gridCol w="1560125"/>
                <a:gridCol w="1560125"/>
                <a:gridCol w="1560125"/>
                <a:gridCol w="1560125"/>
                <a:gridCol w="1560125"/>
              </a:tblGrid>
              <a:tr h="435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Queue empty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U</a:t>
                      </a:r>
                      <a:r>
                        <a:rPr b="1" lang="en">
                          <a:solidFill>
                            <a:schemeClr val="dk1"/>
                          </a:solidFill>
                        </a:rPr>
                        <a:t>rgent referral </a:t>
                      </a:r>
                      <a:endParaRPr b="1"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">
                          <a:solidFill>
                            <a:schemeClr val="dk1"/>
                          </a:solidFill>
                        </a:rPr>
                        <a:t>Next module already done?  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Result</a:t>
                      </a:r>
                      <a:endParaRPr b="1"/>
                    </a:p>
                  </a:txBody>
                  <a:tcPr marT="91425" marB="91425" marR="91425" marL="91425"/>
                </a:tc>
              </a:tr>
              <a:tr h="5785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Visit done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Any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Any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End visit 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Urgent referral 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Any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Go to integrative module (skipping any others)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Next module in queue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Yes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Remove from queue &amp; restart this table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Next module in queue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No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</a:rPr>
                        <a:t>Do that module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9" name="Google Shape;229;p41"/>
          <p:cNvSpPr txBox="1"/>
          <p:nvPr/>
        </p:nvSpPr>
        <p:spPr>
          <a:xfrm>
            <a:off x="971375" y="229900"/>
            <a:ext cx="8029800" cy="1262100"/>
          </a:xfrm>
          <a:prstGeom prst="rect">
            <a:avLst/>
          </a:prstGeom>
          <a:solidFill>
            <a:srgbClr val="FFFF00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Traffic cop: 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Hit policy = mutually </a:t>
            </a:r>
            <a:r>
              <a:rPr b="1" lang="en">
                <a:solidFill>
                  <a:schemeClr val="dk1"/>
                </a:solidFill>
              </a:rPr>
              <a:t>exclusive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Inputs = queue </a:t>
            </a:r>
            <a:r>
              <a:rPr b="1" lang="en">
                <a:solidFill>
                  <a:schemeClr val="dk1"/>
                </a:solidFill>
              </a:rPr>
              <a:t> of modules + list of </a:t>
            </a:r>
            <a:r>
              <a:rPr b="1" lang="en">
                <a:solidFill>
                  <a:schemeClr val="dk1"/>
                </a:solidFill>
              </a:rPr>
              <a:t>completed</a:t>
            </a:r>
            <a:r>
              <a:rPr b="1" lang="en">
                <a:solidFill>
                  <a:schemeClr val="dk1"/>
                </a:solidFill>
              </a:rPr>
              <a:t> modules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Output = </a:t>
            </a:r>
            <a:r>
              <a:rPr b="1" lang="en">
                <a:solidFill>
                  <a:schemeClr val="dk1"/>
                </a:solidFill>
              </a:rPr>
              <a:t>queue  of modules + Done (boolean)+next module (e.g., starting module, fever, integrative)</a:t>
            </a:r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Mermaid of cough DMN</a:t>
            </a:r>
            <a:endParaRPr/>
          </a:p>
        </p:txBody>
      </p:sp>
      <p:sp>
        <p:nvSpPr>
          <p:cNvPr id="235" name="Google Shape;235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highlight>
                  <a:srgbClr val="FFFF00"/>
                </a:highlight>
              </a:rPr>
              <a:t>%%{init: {'theme': 'base', 'themeVariables': { 'fontSize': '24px', 'fontFamily': 'Helvetica', 'primaryColor': '#fff', 'edgeLabelBackground':'#ffffff', 'tertiaryColor': '#f4f4f4'}}}%%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graph TD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%% --- STYLING DEFINITIONS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classDef questionNode fill:#d4edda,stroke:#28a745,stroke-width:3px,color:black,font-size:20px,font-weight:bold;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classDef severeOutcome fill:#dc3545,stroke:#721c24,stroke-width:4px,color:white,font-size:26px,font-weight:bold,rx:15,ry:15;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classDef pneumoniaOutcome fill:#fd7e14,stroke:#ba5e0f,stroke-width:4px,color:white,font-size:26px,font-weight:bold,rx:15,ry:15;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classDef mildOutcome fill:#28a745,stroke:#155724,stroke-width:4px,color:white,font-size:26px,font-weight:bold,rx:15,ry:15;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classDef startNode fill:#e2e6ea,stroke:#333,stroke-width:2px,font-size:20px;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>
                <a:highlight>
                  <a:srgbClr val="FFFF00"/>
                </a:highlight>
              </a:rPr>
              <a:t>    linkStyle default font-size:20px, stroke-width:3px;</a:t>
            </a:r>
            <a:endParaRPr>
              <a:highlight>
                <a:srgbClr val="FFFF00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%% --- FLOWCHART LOGIC ---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Start(("START: Assess Child")):::startNode --&gt; Q1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Q1{"Is Chest Indrawing&lt;br&gt;Present?"}:::questionNode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Q1 -- YES (Rule 1) --&gt; Severe[dx.SeverePneumonia]:::severeOutcome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Q1 -- NO --&gt; Q2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Q2{"Is any General&lt;br&gt;Danger Sign Present?"}:::questionNode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Q2 -- YES (Rule 2) --&gt; Severe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Q2 -- NO --&gt; Q3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Q3{"Are they an INFANT?&lt;br&gt;(Age 2 to &lt;12 mo)&lt;br&gt;AND&lt;br&gt;Resp. Rate ≥ 50?"}:::questionNode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Q3 -- YES (Rule 3) --&gt; Pneumonia[dx.Pneumonia]:::pneumoniaOutcome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Q3 -- NO --&gt; Q4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Q4{"Are they a CHILD?&lt;br&gt;(Age 12 to &lt;60 mo)&lt;br&gt;AND&lt;br&gt;Resp. Rate ≥ 40?"}:::questionNode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Q4 -- YES (Rule 4) --&gt; Pneumonia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    Q4 -- NO (Rule 5 Default) --&gt; Mild[dx.CoughOrCold]:::mildOutcome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Compile the clinical logic into executable code </a:t>
            </a:r>
            <a:endParaRPr/>
          </a:p>
        </p:txBody>
      </p:sp>
      <p:sp>
        <p:nvSpPr>
          <p:cNvPr id="241" name="Google Shape;241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example, translate the clinical logic into XLSForm for CHT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 can we trust AI output?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Verification Stack for </a:t>
            </a:r>
            <a:r>
              <a:rPr lang="en"/>
              <a:t>Zero-Trust Engineering</a:t>
            </a:r>
            <a:endParaRPr/>
          </a:p>
        </p:txBody>
      </p:sp>
      <p:sp>
        <p:nvSpPr>
          <p:cNvPr id="252" name="Google Shape;252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rPr b="1" lang="en" sz="2000">
                <a:solidFill>
                  <a:srgbClr val="1F1F1F"/>
                </a:solidFill>
              </a:rPr>
              <a:t>Adversarial Extraction:</a:t>
            </a:r>
            <a:r>
              <a:rPr lang="en" sz="2000">
                <a:solidFill>
                  <a:srgbClr val="1F1F1F"/>
                </a:solidFill>
              </a:rPr>
              <a:t> "Red Teams" hunting for logic gaps at each step of creating the clinical logic and code</a:t>
            </a:r>
            <a:endParaRPr sz="2000">
              <a:solidFill>
                <a:srgbClr val="1F1F1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rPr b="1" lang="en" sz="2000">
                <a:solidFill>
                  <a:srgbClr val="1F1F1F"/>
                </a:solidFill>
              </a:rPr>
              <a:t>Human Sovereignty:</a:t>
            </a:r>
            <a:r>
              <a:rPr lang="en" sz="2000">
                <a:solidFill>
                  <a:srgbClr val="1F1F1F"/>
                </a:solidFill>
              </a:rPr>
              <a:t> Mandatory sign-offs of clinical logic &amp; of translations</a:t>
            </a:r>
            <a:endParaRPr sz="2000">
              <a:solidFill>
                <a:srgbClr val="1F1F1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rPr b="1" lang="en" sz="2000">
                <a:solidFill>
                  <a:srgbClr val="1F1F1F"/>
                </a:solidFill>
              </a:rPr>
              <a:t>Traceability:</a:t>
            </a:r>
            <a:r>
              <a:rPr lang="en" sz="2000">
                <a:solidFill>
                  <a:srgbClr val="1F1F1F"/>
                </a:solidFill>
              </a:rPr>
              <a:t> Cryptographic links to source text</a:t>
            </a:r>
            <a:endParaRPr sz="2000">
              <a:solidFill>
                <a:srgbClr val="1F1F1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rPr b="1" lang="en" sz="2000">
                <a:solidFill>
                  <a:srgbClr val="1F1F1F"/>
                </a:solidFill>
              </a:rPr>
              <a:t>Formal Verification:</a:t>
            </a:r>
            <a:r>
              <a:rPr lang="en" sz="2000">
                <a:solidFill>
                  <a:srgbClr val="1F1F1F"/>
                </a:solidFill>
              </a:rPr>
              <a:t> Mathematical proofs of consistency, various quality standards</a:t>
            </a:r>
            <a:endParaRPr sz="2000">
              <a:solidFill>
                <a:srgbClr val="1F1F1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rPr b="1" lang="en" sz="2000">
                <a:solidFill>
                  <a:srgbClr val="1F1F1F"/>
                </a:solidFill>
              </a:rPr>
              <a:t>Differential Testing:</a:t>
            </a:r>
            <a:r>
              <a:rPr lang="en" sz="2000">
                <a:solidFill>
                  <a:srgbClr val="1F1F1F"/>
                </a:solidFill>
              </a:rPr>
              <a:t> Synthetic patient simulations show the </a:t>
            </a:r>
            <a:r>
              <a:rPr lang="en" sz="2000">
                <a:solidFill>
                  <a:srgbClr val="1F1F1F"/>
                </a:solidFill>
              </a:rPr>
              <a:t>final code replicates the doctor-</a:t>
            </a:r>
            <a:r>
              <a:rPr lang="en" sz="2000">
                <a:solidFill>
                  <a:srgbClr val="1F1F1F"/>
                </a:solidFill>
              </a:rPr>
              <a:t>approved clinical logic </a:t>
            </a:r>
            <a:endParaRPr sz="20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22">
                <a:solidFill>
                  <a:srgbClr val="1F1F1F"/>
                </a:solidFill>
              </a:rPr>
              <a:t>Adversarial extraction: </a:t>
            </a:r>
            <a:r>
              <a:rPr b="1" lang="en" sz="2022">
                <a:solidFill>
                  <a:srgbClr val="1F1F1F"/>
                </a:solidFill>
              </a:rPr>
              <a:t>"Red Teams" hunt for logic gaps at each step </a:t>
            </a:r>
            <a:endParaRPr b="1" sz="2022">
              <a:solidFill>
                <a:srgbClr val="1F1F1F"/>
              </a:solidFill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46"/>
          <p:cNvSpPr txBox="1"/>
          <p:nvPr>
            <p:ph idx="1" type="body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 pipeline uses LLMs to divide </a:t>
            </a:r>
            <a:r>
              <a:rPr lang="en">
                <a:solidFill>
                  <a:schemeClr val="dk1"/>
                </a:solidFill>
              </a:rPr>
              <a:t>the</a:t>
            </a:r>
            <a:r>
              <a:rPr lang="en">
                <a:solidFill>
                  <a:schemeClr val="dk1"/>
                </a:solidFill>
              </a:rPr>
              <a:t> manual into pieces and assembles the pieces into the clinical logic: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Read manual PDF into structured text file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Identify lists of supplies, decisions, possible diagnoses, possible treatments, etc.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Create decision tables with </a:t>
            </a:r>
            <a:r>
              <a:rPr lang="en">
                <a:solidFill>
                  <a:schemeClr val="dk1"/>
                </a:solidFill>
              </a:rPr>
              <a:t>the</a:t>
            </a:r>
            <a:r>
              <a:rPr lang="en">
                <a:solidFill>
                  <a:schemeClr val="dk1"/>
                </a:solidFill>
              </a:rPr>
              <a:t> clinical logic</a:t>
            </a:r>
            <a:endParaRPr>
              <a:solidFill>
                <a:schemeClr val="dk1"/>
              </a:solidFill>
            </a:endParaRPr>
          </a:p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>
                <a:solidFill>
                  <a:schemeClr val="dk1"/>
                </a:solidFill>
              </a:rPr>
              <a:t>Etc.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At each step, a separate AI has a "red team" </a:t>
            </a:r>
            <a:r>
              <a:rPr lang="en">
                <a:solidFill>
                  <a:schemeClr val="dk1"/>
                </a:solidFill>
              </a:rPr>
              <a:t>prompt</a:t>
            </a:r>
            <a:r>
              <a:rPr lang="en">
                <a:solidFill>
                  <a:schemeClr val="dk1"/>
                </a:solidFill>
              </a:rPr>
              <a:t> checking if each intermediate artifact is complete and hits is quality standards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1"/>
                </a:solidFill>
              </a:rPr>
              <a:t>A </a:t>
            </a:r>
            <a:r>
              <a:rPr lang="en">
                <a:solidFill>
                  <a:schemeClr val="dk1"/>
                </a:solidFill>
              </a:rPr>
              <a:t>third AI adjudicates between the first output and the red team review (and cycles back to the red team, up to 3 times)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Sample quality standards for the red team</a:t>
            </a:r>
            <a:endParaRPr/>
          </a:p>
        </p:txBody>
      </p:sp>
      <p:sp>
        <p:nvSpPr>
          <p:cNvPr id="264" name="Google Shape;264;p47"/>
          <p:cNvSpPr txBox="1"/>
          <p:nvPr>
            <p:ph idx="1" type="body"/>
          </p:nvPr>
        </p:nvSpPr>
        <p:spPr>
          <a:xfrm>
            <a:off x="475319" y="1149355"/>
            <a:ext cx="714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50">
                <a:solidFill>
                  <a:schemeClr val="dk1"/>
                </a:solidFill>
              </a:rPr>
              <a:t>Consistency of DMN &amp; its building blocks (unless clinicians approve an exception)</a:t>
            </a:r>
            <a:endParaRPr sz="215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All diagnostic equipment and supplies and all treatments mentioned in the Supply list are used in a Decision table, and conversely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All variable names (symptoms, exams, drugs, etc.) are in the dictionary and the phrase book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Rules exist to convert all categorical and continuous variables into the true/false variables used by DMN </a:t>
            </a:r>
            <a:endParaRPr sz="2000">
              <a:solidFill>
                <a:schemeClr val="dk1"/>
              </a:solidFill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" sz="1700">
                <a:solidFill>
                  <a:schemeClr val="dk1"/>
                </a:solidFill>
              </a:rPr>
              <a:t>…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Sample quality </a:t>
            </a:r>
            <a:r>
              <a:rPr b="1" lang="en"/>
              <a:t>standards</a:t>
            </a:r>
            <a:r>
              <a:rPr b="1" lang="en"/>
              <a:t> for the red team</a:t>
            </a:r>
            <a:endParaRPr b="1"/>
          </a:p>
        </p:txBody>
      </p:sp>
      <p:sp>
        <p:nvSpPr>
          <p:cNvPr id="270" name="Google Shape;270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DMN decision </a:t>
            </a:r>
            <a:r>
              <a:rPr lang="en">
                <a:solidFill>
                  <a:schemeClr val="dk1"/>
                </a:solidFill>
              </a:rPr>
              <a:t>tables</a:t>
            </a:r>
            <a:r>
              <a:rPr lang="en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Every DMN decision row is reachable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Only true/false inputs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FEEL arithmetic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hidden calculations inside DMN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explicit ELSE row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explicit hit policy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outputs that are enumerated and reviewable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integrative logic separate from module-local logic when possible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XLSForm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Every rule in XLSForm matches the doctor-approved rule on boundary cases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Every output code in XLSForm has a corresponding DMN output value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etc.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 Sovereignty &amp; Impact</a:t>
            </a:r>
            <a:endParaRPr/>
          </a:p>
        </p:txBody>
      </p:sp>
      <p:sp>
        <p:nvSpPr>
          <p:cNvPr id="276" name="Google Shape;276;p4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F1F1F"/>
                </a:solidFill>
              </a:rPr>
              <a:t>AI generates the draft clinical logic, but </a:t>
            </a:r>
            <a:r>
              <a:rPr b="1" lang="en">
                <a:solidFill>
                  <a:srgbClr val="1F1F1F"/>
                </a:solidFill>
              </a:rPr>
              <a:t>clinicians own the decision.</a:t>
            </a:r>
            <a:endParaRPr b="1">
              <a:solidFill>
                <a:srgbClr val="1F1F1F"/>
              </a:solidFill>
            </a:endParaRPr>
          </a:p>
          <a:p>
            <a:pPr indent="-342900" lvl="0" marL="457200" rtl="0" algn="l">
              <a:spcBef>
                <a:spcPts val="180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b="1" lang="en">
                <a:solidFill>
                  <a:srgbClr val="1F1F1F"/>
                </a:solidFill>
              </a:rPr>
              <a:t>Mandatory Human Gates</a:t>
            </a:r>
            <a:endParaRPr b="1">
              <a:solidFill>
                <a:srgbClr val="1F1F1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b="1" lang="en" sz="1800">
                <a:solidFill>
                  <a:srgbClr val="1F1F1F"/>
                </a:solidFill>
              </a:rPr>
              <a:t>Ambiguity Resolution:</a:t>
            </a:r>
            <a:r>
              <a:rPr lang="en" sz="1800">
                <a:solidFill>
                  <a:srgbClr val="1F1F1F"/>
                </a:solidFill>
              </a:rPr>
              <a:t> MOH must clarify manuals that the AI does not consider complete 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romanLcPeriod"/>
            </a:pPr>
            <a:r>
              <a:rPr lang="en" sz="1800">
                <a:solidFill>
                  <a:srgbClr val="1F1F1F"/>
                </a:solidFill>
              </a:rPr>
              <a:t>e.g., “The manual does not define a rule if a stockout of…”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b="1" lang="en" sz="1800">
                <a:solidFill>
                  <a:srgbClr val="1F1F1F"/>
                </a:solidFill>
              </a:rPr>
              <a:t>Logic Review:</a:t>
            </a:r>
            <a:r>
              <a:rPr lang="en" sz="1800">
                <a:solidFill>
                  <a:srgbClr val="1F1F1F"/>
                </a:solidFill>
              </a:rPr>
              <a:t> MOH clinicians approve the clinical logic presented in </a:t>
            </a:r>
            <a:r>
              <a:rPr b="1" lang="en" sz="1800">
                <a:solidFill>
                  <a:srgbClr val="1F1F1F"/>
                </a:solidFill>
              </a:rPr>
              <a:t>Plain English</a:t>
            </a:r>
            <a:r>
              <a:rPr lang="en" sz="1800">
                <a:solidFill>
                  <a:srgbClr val="1F1F1F"/>
                </a:solidFill>
              </a:rPr>
              <a:t> and </a:t>
            </a:r>
            <a:r>
              <a:rPr b="1" lang="en" sz="1800">
                <a:solidFill>
                  <a:srgbClr val="1F1F1F"/>
                </a:solidFill>
              </a:rPr>
              <a:t>Flowcharts</a:t>
            </a:r>
            <a:r>
              <a:rPr lang="en" sz="1800">
                <a:solidFill>
                  <a:srgbClr val="1F1F1F"/>
                </a:solidFill>
              </a:rPr>
              <a:t> (not code)</a:t>
            </a:r>
            <a:endParaRPr sz="1800">
              <a:solidFill>
                <a:srgbClr val="1F1F1F"/>
              </a:solidFill>
            </a:endParaRPr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AutoNum type="romanLcPeriod"/>
            </a:pPr>
            <a:r>
              <a:rPr lang="en" sz="1800">
                <a:solidFill>
                  <a:srgbClr val="1F1F1F"/>
                </a:solidFill>
              </a:rPr>
              <a:t>For updates, the system highlights where the update modifies the logic 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b="1" lang="en" sz="1800">
                <a:solidFill>
                  <a:srgbClr val="1F1F1F"/>
                </a:solidFill>
              </a:rPr>
              <a:t>Translation Sign-off:</a:t>
            </a:r>
            <a:r>
              <a:rPr lang="en" sz="1800">
                <a:solidFill>
                  <a:srgbClr val="1F1F1F"/>
                </a:solidFill>
              </a:rPr>
              <a:t> Local staff approve exact message wording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b="1" lang="en">
                <a:solidFill>
                  <a:srgbClr val="1F1F1F"/>
                </a:solidFill>
              </a:rPr>
              <a:t>The Result:</a:t>
            </a:r>
            <a:r>
              <a:rPr lang="en">
                <a:solidFill>
                  <a:srgbClr val="1F1F1F"/>
                </a:solidFill>
              </a:rPr>
              <a:t> Code that is clinically credible and MOH-approved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Mathematical Proof of Consistency with </a:t>
            </a:r>
            <a:r>
              <a:rPr b="1" lang="en"/>
              <a:t>Z3 prover</a:t>
            </a:r>
            <a:endParaRPr b="1"/>
          </a:p>
        </p:txBody>
      </p:sp>
      <p:sp>
        <p:nvSpPr>
          <p:cNvPr id="282" name="Google Shape;282;p50"/>
          <p:cNvSpPr txBox="1"/>
          <p:nvPr>
            <p:ph idx="1" type="body"/>
          </p:nvPr>
        </p:nvSpPr>
        <p:spPr>
          <a:xfrm>
            <a:off x="235500" y="1152475"/>
            <a:ext cx="7745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Use formal prover to show the decision rules have desirable properties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All paths end in a clinical diagnosis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No patients have mutually exclusive diagnoses or treatments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No cycles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Plans for all forms of stockouts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etc.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Sample quality standards: Universal rules </a:t>
            </a:r>
            <a:endParaRPr b="1"/>
          </a:p>
        </p:txBody>
      </p:sp>
      <p:sp>
        <p:nvSpPr>
          <p:cNvPr id="288" name="Google Shape;288;p51"/>
          <p:cNvSpPr txBox="1"/>
          <p:nvPr>
            <p:ph idx="1" type="body"/>
          </p:nvPr>
        </p:nvSpPr>
        <p:spPr>
          <a:xfrm>
            <a:off x="447050" y="1152475"/>
            <a:ext cx="6984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Unless the manual or a clinician overrides: </a:t>
            </a:r>
            <a:endParaRPr sz="2000">
              <a:solidFill>
                <a:schemeClr val="dk1"/>
              </a:solidFill>
            </a:endParaRPr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" sz="2000">
                <a:solidFill>
                  <a:schemeClr val="dk1"/>
                </a:solidFill>
              </a:rPr>
              <a:t>Adding a diagnosis, adding a general danger sign, or worsening a symptom (e.g., a higher fever)</a:t>
            </a:r>
            <a:endParaRPr sz="2000">
              <a:solidFill>
                <a:schemeClr val="dk1"/>
              </a:solidFill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Never reduces referral intensity </a:t>
            </a:r>
            <a:endParaRPr sz="2000">
              <a:solidFill>
                <a:schemeClr val="dk1"/>
              </a:solidFill>
            </a:endParaRPr>
          </a:p>
          <a:p>
            <a:pPr indent="-355600" lvl="2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</a:pPr>
            <a:r>
              <a:rPr lang="en" sz="2000">
                <a:solidFill>
                  <a:schemeClr val="dk1"/>
                </a:solidFill>
              </a:rPr>
              <a:t>e.g., never replaces hospital referral with clinic or clinic with home care</a:t>
            </a:r>
            <a:endParaRPr sz="2000">
              <a:solidFill>
                <a:schemeClr val="dk1"/>
              </a:solidFill>
            </a:endParaRPr>
          </a:p>
          <a:p>
            <a:pPr indent="-3556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" sz="2000">
                <a:solidFill>
                  <a:schemeClr val="dk1"/>
                </a:solidFill>
              </a:rPr>
              <a:t>Never lengthens time to follow-up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3000"/>
              </a:spcAft>
              <a:buNone/>
            </a:pPr>
            <a:r>
              <a:rPr lang="en" sz="2000">
                <a:solidFill>
                  <a:srgbClr val="1F1F1F"/>
                </a:solidFill>
              </a:rPr>
              <a:t>We also ensure usability: Maximum # of clicks and of screens 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rules for XLSForm</a:t>
            </a:r>
            <a:endParaRPr/>
          </a:p>
        </p:txBody>
      </p:sp>
      <p:sp>
        <p:nvSpPr>
          <p:cNvPr id="294" name="Google Shape;294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sz="1800"/>
              <a:t>“Forms SHALL NOT initiate network communication.”</a:t>
            </a:r>
            <a:endParaRPr b="1"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/>
              <a:t>Testing</a:t>
            </a:r>
            <a:endParaRPr b="1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 sz="1800"/>
              <a:t>Static scan of XLSForms for: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pulldata()</a:t>
            </a:r>
            <a:r>
              <a:rPr lang="en" sz="1800"/>
              <a:t> with remote URLs</a:t>
            </a:r>
            <a:endParaRPr sz="1800"/>
          </a:p>
          <a:p>
            <a:pPr indent="-342900" lvl="2" marL="1371600" rtl="0" algn="l">
              <a:spcBef>
                <a:spcPts val="0"/>
              </a:spcBef>
              <a:spcAft>
                <a:spcPts val="0"/>
              </a:spcAft>
              <a:buSzPts val="1800"/>
              <a:buChar char="■"/>
            </a:pPr>
            <a:r>
              <a:rPr lang="en" sz="1800"/>
              <a:t>custom JS widget references</a:t>
            </a:r>
            <a:endParaRPr sz="180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Traceability and Replicability</a:t>
            </a:r>
            <a:endParaRPr/>
          </a:p>
        </p:txBody>
      </p:sp>
      <p:sp>
        <p:nvSpPr>
          <p:cNvPr id="300" name="Google Shape;300;p53"/>
          <p:cNvSpPr txBox="1"/>
          <p:nvPr>
            <p:ph idx="1" type="body"/>
          </p:nvPr>
        </p:nvSpPr>
        <p:spPr>
          <a:xfrm>
            <a:off x="372670" y="101771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</a:rPr>
              <a:t>Traceability: </a:t>
            </a:r>
            <a:r>
              <a:rPr lang="en" sz="2000"/>
              <a:t>Every rule and line of code is linked to a specific page and text snippet from the source manual(s)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2000"/>
              <a:t>Replicability</a:t>
            </a:r>
            <a:r>
              <a:rPr lang="en" sz="2000"/>
              <a:t>: We cryptographically sign and freeze the </a:t>
            </a:r>
            <a:r>
              <a:rPr lang="en" sz="2000"/>
              <a:t>clinical</a:t>
            </a:r>
            <a:r>
              <a:rPr lang="en" sz="2000"/>
              <a:t> logic after MOH approval. All code and libraries that validate the clinical logic and then compile the logic into code such as XLSForm live in a single container with a unique hash.  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2000"/>
              <a:t>Everything after clinical sign-off is deterministic (no AI), so is bit-by-bit replicable</a:t>
            </a:r>
            <a:endParaRPr sz="200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z3 also </a:t>
            </a:r>
            <a:r>
              <a:rPr lang="en"/>
              <a:t>generates thousands of Synthetic Patient Profiles.</a:t>
            </a:r>
            <a:endParaRPr/>
          </a:p>
        </p:txBody>
      </p:sp>
      <p:sp>
        <p:nvSpPr>
          <p:cNvPr id="306" name="Google Shape;306;p54"/>
          <p:cNvSpPr txBox="1"/>
          <p:nvPr>
            <p:ph idx="1" type="body"/>
          </p:nvPr>
        </p:nvSpPr>
        <p:spPr>
          <a:xfrm>
            <a:off x="311700" y="124391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700"/>
              <a:buChar char="●"/>
            </a:pPr>
            <a:r>
              <a:rPr lang="en" sz="2100">
                <a:solidFill>
                  <a:schemeClr val="dk1"/>
                </a:solidFill>
              </a:rPr>
              <a:t>All one-diagnosis cases &amp; clinical endpoints </a:t>
            </a:r>
            <a:endParaRPr sz="2100">
              <a:solidFill>
                <a:schemeClr val="dk1"/>
              </a:solidFill>
            </a:endParaRPr>
          </a:p>
          <a:p>
            <a:pPr indent="-360408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76"/>
              <a:buChar char="●"/>
            </a:pPr>
            <a:r>
              <a:rPr b="1" lang="en" sz="2076">
                <a:solidFill>
                  <a:srgbClr val="1F1F1F"/>
                </a:solidFill>
              </a:rPr>
              <a:t>Comorbidities:</a:t>
            </a:r>
            <a:r>
              <a:rPr lang="en" sz="2076">
                <a:solidFill>
                  <a:srgbClr val="1F1F1F"/>
                </a:solidFill>
              </a:rPr>
              <a:t> Both common and rare combinations of symptoms</a:t>
            </a:r>
            <a:endParaRPr sz="2076">
              <a:solidFill>
                <a:srgbClr val="1F1F1F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" sz="2100">
                <a:solidFill>
                  <a:schemeClr val="dk1"/>
                </a:solidFill>
              </a:rPr>
              <a:t>All two-diagnosis cases</a:t>
            </a:r>
            <a:endParaRPr sz="2100">
              <a:solidFill>
                <a:schemeClr val="dk1"/>
              </a:solidFill>
            </a:endParaRPr>
          </a:p>
          <a:p>
            <a:pPr indent="-3619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○"/>
            </a:pPr>
            <a:r>
              <a:rPr lang="en" sz="2100">
                <a:solidFill>
                  <a:schemeClr val="dk1"/>
                </a:solidFill>
              </a:rPr>
              <a:t>critical three-way interactions</a:t>
            </a:r>
            <a:endParaRPr sz="2100">
              <a:solidFill>
                <a:schemeClr val="dk1"/>
              </a:solidFill>
            </a:endParaRPr>
          </a:p>
        </p:txBody>
      </p:sp>
      <p:sp>
        <p:nvSpPr>
          <p:cNvPr id="307" name="Google Shape;307;p5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0408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76"/>
              <a:buChar char="●"/>
            </a:pPr>
            <a:r>
              <a:rPr lang="en" sz="2076">
                <a:solidFill>
                  <a:srgbClr val="1F1F1F"/>
                </a:solidFill>
              </a:rPr>
              <a:t>Generate </a:t>
            </a:r>
            <a:r>
              <a:rPr b="1" lang="en" sz="2076">
                <a:solidFill>
                  <a:srgbClr val="1F1F1F"/>
                </a:solidFill>
              </a:rPr>
              <a:t>Stress Tests:</a:t>
            </a:r>
            <a:endParaRPr b="1" sz="2076">
              <a:solidFill>
                <a:srgbClr val="1F1F1F"/>
              </a:solidFill>
            </a:endParaRPr>
          </a:p>
          <a:p>
            <a:pPr indent="-360408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76"/>
              <a:buChar char="○"/>
            </a:pPr>
            <a:r>
              <a:rPr b="1" lang="en" sz="2076">
                <a:solidFill>
                  <a:srgbClr val="1F1F1F"/>
                </a:solidFill>
              </a:rPr>
              <a:t>Boundary Triples:</a:t>
            </a:r>
            <a:r>
              <a:rPr lang="en" sz="2076">
                <a:solidFill>
                  <a:srgbClr val="1F1F1F"/>
                </a:solidFill>
              </a:rPr>
              <a:t> Temp = 37.4°C, 37.5°C, 37.6°C.</a:t>
            </a:r>
            <a:endParaRPr sz="2076">
              <a:solidFill>
                <a:srgbClr val="1F1F1F"/>
              </a:solidFill>
            </a:endParaRPr>
          </a:p>
          <a:p>
            <a:pPr indent="-360408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76"/>
              <a:buChar char="○"/>
            </a:pPr>
            <a:r>
              <a:rPr b="1" lang="en" sz="2076">
                <a:solidFill>
                  <a:srgbClr val="1F1F1F"/>
                </a:solidFill>
              </a:rPr>
              <a:t>Missingness:</a:t>
            </a:r>
            <a:r>
              <a:rPr lang="en" sz="2076">
                <a:solidFill>
                  <a:srgbClr val="1F1F1F"/>
                </a:solidFill>
              </a:rPr>
              <a:t> Handles broken instruments, stock-outs, skipped questions.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5"/>
          <p:cNvSpPr txBox="1"/>
          <p:nvPr>
            <p:ph type="title"/>
          </p:nvPr>
        </p:nvSpPr>
        <p:spPr>
          <a:xfrm>
            <a:off x="311700" y="445025"/>
            <a:ext cx="8520600" cy="85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/>
              <a:t>Co</a:t>
            </a:r>
            <a:r>
              <a:rPr b="1" lang="en" sz="2000"/>
              <a:t>mpare output from doctor-approved DMN and XLSForm that runs on CHWs' phones</a:t>
            </a:r>
            <a:endParaRPr b="1" sz="3000"/>
          </a:p>
        </p:txBody>
      </p:sp>
      <p:sp>
        <p:nvSpPr>
          <p:cNvPr id="313" name="Google Shape;313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each synthetic patient, compare</a:t>
            </a:r>
            <a:r>
              <a:rPr lang="en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Questions &amp; exams 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Diagnoses </a:t>
            </a:r>
            <a:endParaRPr>
              <a:solidFill>
                <a:schemeClr val="dk1"/>
              </a:solidFill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Treatment including 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Drugs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Dosing 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Follow-up visit timing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Referral urgency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Stockout substitutions</a:t>
            </a:r>
            <a:endParaRPr>
              <a:solidFill>
                <a:schemeClr val="dk1"/>
              </a:solidFill>
            </a:endParaRPr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Conflict resolution across diagnoses or treatments 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After we compile the clinical logic into executable code </a:t>
            </a:r>
            <a:endParaRPr/>
          </a:p>
        </p:txBody>
      </p:sp>
      <p:sp>
        <p:nvSpPr>
          <p:cNvPr id="319" name="Google Shape;319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 example, for CHT the system translates the clinical logic into XLSForm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verify that thousands of simulated patients have identical diagnosis and treatment when run through: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">
                <a:solidFill>
                  <a:schemeClr val="dk1"/>
                </a:solidFill>
              </a:rPr>
              <a:t>The decision logic the MOH approved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">
                <a:solidFill>
                  <a:schemeClr val="dk1"/>
                </a:solidFill>
              </a:rPr>
              <a:t>The flowchart made from that logic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">
                <a:solidFill>
                  <a:schemeClr val="dk1"/>
                </a:solidFill>
              </a:rPr>
              <a:t>The executable code (such as XLSForm) compiled from that logic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to Test harness</a:t>
            </a:r>
            <a:endParaRPr/>
          </a:p>
        </p:txBody>
      </p:sp>
      <p:sp>
        <p:nvSpPr>
          <p:cNvPr id="325" name="Google Shape;325;p57"/>
          <p:cNvSpPr txBox="1"/>
          <p:nvPr>
            <p:ph idx="1" type="body"/>
          </p:nvPr>
        </p:nvSpPr>
        <p:spPr>
          <a:xfrm>
            <a:off x="354150" y="115832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Decision tables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Predicate Table for converting continuous data from patient data (age, temperature, etc.) to boolean variables used in the DMN decision tables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infant_fast_breathing = (age_mo &gt; 2) AND (age_mo &lt;=12 mo) AND (resp_rate ≥ 50)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child_fast_breathing = (age_mo &gt;12 mo) AND (resp_rate ≥ 40)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Differential Testing</a:t>
            </a:r>
            <a:endParaRPr/>
          </a:p>
        </p:txBody>
      </p:sp>
      <p:sp>
        <p:nvSpPr>
          <p:cNvPr id="331" name="Google Shape;331;p5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rPr b="1" lang="en" sz="2000">
                <a:solidFill>
                  <a:srgbClr val="1F1F1F"/>
                </a:solidFill>
              </a:rPr>
              <a:t>Mutation </a:t>
            </a:r>
            <a:r>
              <a:rPr lang="en" sz="2000">
                <a:solidFill>
                  <a:srgbClr val="1F1F1F"/>
                </a:solidFill>
              </a:rPr>
              <a:t>testing: When we purposely modify any rules or patients, we require the system to identify 100% of such discrepancies</a:t>
            </a:r>
            <a:endParaRPr sz="2000">
              <a:solidFill>
                <a:srgbClr val="1F1F1F"/>
              </a:solidFill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000"/>
              <a:buChar char="●"/>
            </a:pPr>
            <a:r>
              <a:t/>
            </a:r>
            <a:endParaRPr sz="2000">
              <a:solidFill>
                <a:srgbClr val="1F1F1F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checks: Reliability </a:t>
            </a:r>
            <a:endParaRPr/>
          </a:p>
        </p:txBody>
      </p:sp>
      <p:sp>
        <p:nvSpPr>
          <p:cNvPr id="337" name="Google Shape;337;p59"/>
          <p:cNvSpPr txBox="1"/>
          <p:nvPr>
            <p:ph idx="1" type="body"/>
          </p:nvPr>
        </p:nvSpPr>
        <p:spPr>
          <a:xfrm>
            <a:off x="262695" y="119984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Test-retest reliability</a:t>
            </a:r>
            <a:r>
              <a:rPr lang="en">
                <a:solidFill>
                  <a:schemeClr val="dk1"/>
                </a:solidFill>
              </a:rPr>
              <a:t>: Give same manual and get clinically identical output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Inter-rater reliability</a:t>
            </a:r>
            <a:r>
              <a:rPr lang="en">
                <a:solidFill>
                  <a:schemeClr val="dk1"/>
                </a:solidFill>
              </a:rPr>
              <a:t>: Use different LLMs for different tasks and get clinically identical output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Note: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Reliability does not prove validity,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but </a:t>
            </a:r>
            <a:r>
              <a:rPr i="1" lang="en">
                <a:solidFill>
                  <a:schemeClr val="dk1"/>
                </a:solidFill>
              </a:rPr>
              <a:t>failure</a:t>
            </a:r>
            <a:r>
              <a:rPr lang="en">
                <a:solidFill>
                  <a:schemeClr val="dk1"/>
                </a:solidFill>
              </a:rPr>
              <a:t> of reliability proves at least one run is wrong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Quality checks</a:t>
            </a:r>
            <a:endParaRPr/>
          </a:p>
        </p:txBody>
      </p:sp>
      <p:sp>
        <p:nvSpPr>
          <p:cNvPr id="343" name="Google Shape;343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Humans use the system to ensure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Sensible logic flow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Clear language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Reasonable # of clicks and of screens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etc.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of this method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(planned)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Validation of our pipeline against i</a:t>
            </a:r>
            <a:r>
              <a:rPr lang="en"/>
              <a:t>ndependent oracles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6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ptos"/>
              <a:buAutoNum type="arabicPeriod"/>
            </a:pPr>
            <a:r>
              <a:rPr b="1" lang="en">
                <a:solidFill>
                  <a:schemeClr val="dk1"/>
                </a:solidFill>
              </a:rPr>
              <a:t>Legacy Replication:</a:t>
            </a:r>
            <a:r>
              <a:rPr lang="en">
                <a:solidFill>
                  <a:schemeClr val="dk1"/>
                </a:solidFill>
              </a:rPr>
              <a:t>  Our pipeline leads to identical clinical decisions as </a:t>
            </a:r>
            <a:r>
              <a:rPr lang="en">
                <a:solidFill>
                  <a:schemeClr val="dk1"/>
                </a:solidFill>
              </a:rPr>
              <a:t>existing hard-coded CHW software derived from a manual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ptos"/>
              <a:buAutoNum type="arabicPeriod"/>
            </a:pPr>
            <a:r>
              <a:rPr b="1" lang="en">
                <a:solidFill>
                  <a:schemeClr val="dk1"/>
                </a:solidFill>
              </a:rPr>
              <a:t>WHO Gold Standard:</a:t>
            </a:r>
            <a:r>
              <a:rPr lang="en">
                <a:solidFill>
                  <a:schemeClr val="dk1"/>
                </a:solidFill>
              </a:rPr>
              <a:t> For three WHO CHW manuals, we hand-coded decision tables and had MDs verify each rule. Our system’s decision logic reproduced the MD-approved rules.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ptos"/>
              <a:buAutoNum type="arabicPeriod"/>
            </a:pPr>
            <a:r>
              <a:rPr b="1" lang="en">
                <a:solidFill>
                  <a:schemeClr val="dk1"/>
                </a:solidFill>
              </a:rPr>
              <a:t>Stress tests with synthetic adversarial manuals:</a:t>
            </a:r>
            <a:r>
              <a:rPr lang="en">
                <a:solidFill>
                  <a:schemeClr val="dk1"/>
                </a:solidFill>
              </a:rPr>
              <a:t> We created complex synthetic manuals with known ground truth. </a:t>
            </a:r>
            <a:endParaRPr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ptos"/>
              <a:buAutoNum type="alphaLcPeriod"/>
            </a:pPr>
            <a:r>
              <a:rPr lang="en" sz="1700">
                <a:solidFill>
                  <a:schemeClr val="dk1"/>
                </a:solidFill>
              </a:rPr>
              <a:t>The system reproduces the known correct behavior. 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ptos"/>
              <a:buAutoNum type="alphaLcPeriod"/>
            </a:pPr>
            <a:r>
              <a:rPr lang="en" sz="1700">
                <a:solidFill>
                  <a:schemeClr val="dk1"/>
                </a:solidFill>
              </a:rPr>
              <a:t>When we input incomplete or internally inconsistent manuals, the system correctly identifies the issues </a:t>
            </a:r>
            <a:endParaRPr sz="170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6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Field evidence #1: CHWs &amp; Artificial patients  </a:t>
            </a:r>
            <a:endParaRPr/>
          </a:p>
        </p:txBody>
      </p:sp>
      <p:sp>
        <p:nvSpPr>
          <p:cNvPr id="360" name="Google Shape;360;p6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Recruit CHWs for a weekend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Give synthetic (artificial) </a:t>
            </a:r>
            <a:r>
              <a:rPr lang="en"/>
              <a:t>patients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Compare adherence to guidelines with and without CHW Navigator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Adherence will be artificially high in both conditions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6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Field evidence #2: CHWs &amp; real patients with MD oversight</a:t>
            </a:r>
            <a:endParaRPr/>
          </a:p>
        </p:txBody>
      </p:sp>
      <p:sp>
        <p:nvSpPr>
          <p:cNvPr id="366" name="Google Shape;366;p64"/>
          <p:cNvSpPr txBox="1"/>
          <p:nvPr>
            <p:ph idx="1" type="body"/>
          </p:nvPr>
        </p:nvSpPr>
        <p:spPr>
          <a:xfrm>
            <a:off x="208650" y="16677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CHWs treat real patients with a nurse or doctor watching to ensure no harms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Compare adherence to guidelines with and without CHW Navigator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Note: Adherence will be artificially high in both conditions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6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Innovation Summary</a:t>
            </a:r>
            <a:endParaRPr/>
          </a:p>
        </p:txBody>
      </p:sp>
      <p:sp>
        <p:nvSpPr>
          <p:cNvPr id="372" name="Google Shape;372;p6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b="1" lang="en">
                <a:solidFill>
                  <a:srgbClr val="1F1F1F"/>
                </a:solidFill>
              </a:rPr>
              <a:t>Summary:</a:t>
            </a:r>
            <a:endParaRPr b="1">
              <a:solidFill>
                <a:srgbClr val="1F1F1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b="1" lang="en" sz="1800">
                <a:solidFill>
                  <a:srgbClr val="1F1F1F"/>
                </a:solidFill>
              </a:rPr>
              <a:t>From:</a:t>
            </a:r>
            <a:r>
              <a:rPr lang="en" sz="1800">
                <a:solidFill>
                  <a:srgbClr val="1F1F1F"/>
                </a:solidFill>
              </a:rPr>
              <a:t> Manual Transcription 				</a:t>
            </a:r>
            <a:r>
              <a:rPr b="1" lang="en" sz="1800">
                <a:solidFill>
                  <a:srgbClr val="1F1F1F"/>
                </a:solidFill>
              </a:rPr>
              <a:t>To:</a:t>
            </a:r>
            <a:r>
              <a:rPr lang="en" sz="1800">
                <a:solidFill>
                  <a:srgbClr val="1F1F1F"/>
                </a:solidFill>
              </a:rPr>
              <a:t> Verified Compilation.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b="1" lang="en" sz="1800">
                <a:solidFill>
                  <a:srgbClr val="1F1F1F"/>
                </a:solidFill>
              </a:rPr>
              <a:t>From:</a:t>
            </a:r>
            <a:r>
              <a:rPr lang="en" sz="1800">
                <a:solidFill>
                  <a:srgbClr val="1F1F1F"/>
                </a:solidFill>
              </a:rPr>
              <a:t> "Black Box" Logic 					</a:t>
            </a:r>
            <a:r>
              <a:rPr b="1" lang="en" sz="1800">
                <a:solidFill>
                  <a:srgbClr val="1F1F1F"/>
                </a:solidFill>
              </a:rPr>
              <a:t>To:</a:t>
            </a:r>
            <a:r>
              <a:rPr lang="en" sz="1800">
                <a:solidFill>
                  <a:srgbClr val="1F1F1F"/>
                </a:solidFill>
              </a:rPr>
              <a:t> Traceable Provenance.</a:t>
            </a:r>
            <a:endParaRPr sz="1800">
              <a:solidFill>
                <a:srgbClr val="1F1F1F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○"/>
            </a:pPr>
            <a:r>
              <a:rPr b="1" lang="en" sz="1800">
                <a:solidFill>
                  <a:srgbClr val="1F1F1F"/>
                </a:solidFill>
              </a:rPr>
              <a:t>From:</a:t>
            </a:r>
            <a:r>
              <a:rPr lang="en" sz="1800">
                <a:solidFill>
                  <a:srgbClr val="1F1F1F"/>
                </a:solidFill>
              </a:rPr>
              <a:t> Post-Deployment Debugging 		</a:t>
            </a:r>
            <a:r>
              <a:rPr b="1" lang="en" sz="1800">
                <a:solidFill>
                  <a:srgbClr val="1F1F1F"/>
                </a:solidFill>
              </a:rPr>
              <a:t>To:</a:t>
            </a:r>
            <a:r>
              <a:rPr lang="en" sz="1800">
                <a:solidFill>
                  <a:srgbClr val="1F1F1F"/>
                </a:solidFill>
              </a:rPr>
              <a:t> Pre-Deployment Clinical review+ Mathematical Proof.</a:t>
            </a:r>
            <a:endParaRPr sz="1800">
              <a:solidFill>
                <a:srgbClr val="1F1F1F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800"/>
              <a:buChar char="●"/>
            </a:pPr>
            <a:r>
              <a:rPr b="1" lang="en">
                <a:solidFill>
                  <a:srgbClr val="1F1F1F"/>
                </a:solidFill>
              </a:rPr>
              <a:t>Final Impact:</a:t>
            </a:r>
            <a:r>
              <a:rPr lang="en">
                <a:solidFill>
                  <a:srgbClr val="1F1F1F"/>
                </a:solidFill>
              </a:rPr>
              <a:t> A generalizable framework for producing auditable, reproducible, and trustworthy decision support in low-resource settings.</a:t>
            </a:r>
            <a:endParaRPr/>
          </a:p>
        </p:txBody>
      </p:sp>
      <p:cxnSp>
        <p:nvCxnSpPr>
          <p:cNvPr id="373" name="Google Shape;373;p65"/>
          <p:cNvCxnSpPr/>
          <p:nvPr/>
        </p:nvCxnSpPr>
        <p:spPr>
          <a:xfrm>
            <a:off x="5083995" y="2030575"/>
            <a:ext cx="667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65"/>
          <p:cNvCxnSpPr/>
          <p:nvPr/>
        </p:nvCxnSpPr>
        <p:spPr>
          <a:xfrm>
            <a:off x="5035700" y="1697250"/>
            <a:ext cx="667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5" name="Google Shape;375;p65"/>
          <p:cNvCxnSpPr/>
          <p:nvPr/>
        </p:nvCxnSpPr>
        <p:spPr>
          <a:xfrm>
            <a:off x="5083996" y="2318015"/>
            <a:ext cx="6678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